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89" r:id="rId3"/>
    <p:sldId id="290" r:id="rId4"/>
    <p:sldId id="291" r:id="rId5"/>
    <p:sldId id="268" r:id="rId6"/>
    <p:sldId id="508" r:id="rId7"/>
    <p:sldId id="509" r:id="rId8"/>
    <p:sldId id="292" r:id="rId9"/>
    <p:sldId id="343" r:id="rId10"/>
    <p:sldId id="344" r:id="rId11"/>
    <p:sldId id="511" r:id="rId12"/>
    <p:sldId id="510" r:id="rId13"/>
    <p:sldId id="512" r:id="rId14"/>
    <p:sldId id="513" r:id="rId15"/>
    <p:sldId id="514" r:id="rId16"/>
    <p:sldId id="639" r:id="rId18"/>
    <p:sldId id="580" r:id="rId19"/>
    <p:sldId id="581" r:id="rId20"/>
    <p:sldId id="582" r:id="rId21"/>
    <p:sldId id="583" r:id="rId22"/>
    <p:sldId id="515" r:id="rId23"/>
    <p:sldId id="321" r:id="rId24"/>
    <p:sldId id="694" r:id="rId25"/>
    <p:sldId id="345" r:id="rId26"/>
    <p:sldId id="519" r:id="rId27"/>
    <p:sldId id="518" r:id="rId28"/>
    <p:sldId id="520" r:id="rId29"/>
    <p:sldId id="521" r:id="rId30"/>
    <p:sldId id="522" r:id="rId31"/>
    <p:sldId id="523" r:id="rId32"/>
    <p:sldId id="322" r:id="rId33"/>
    <p:sldId id="387" r:id="rId34"/>
    <p:sldId id="485" r:id="rId35"/>
    <p:sldId id="486" r:id="rId36"/>
    <p:sldId id="487" r:id="rId37"/>
    <p:sldId id="494" r:id="rId38"/>
    <p:sldId id="495" r:id="rId39"/>
    <p:sldId id="550" r:id="rId40"/>
    <p:sldId id="551" r:id="rId41"/>
    <p:sldId id="552" r:id="rId42"/>
    <p:sldId id="553" r:id="rId43"/>
    <p:sldId id="554" r:id="rId44"/>
    <p:sldId id="331" r:id="rId45"/>
    <p:sldId id="324" r:id="rId46"/>
    <p:sldId id="325" r:id="rId47"/>
    <p:sldId id="326" r:id="rId48"/>
    <p:sldId id="360" r:id="rId49"/>
    <p:sldId id="361" r:id="rId50"/>
    <p:sldId id="362" r:id="rId51"/>
    <p:sldId id="556" r:id="rId52"/>
    <p:sldId id="557" r:id="rId53"/>
    <p:sldId id="558" r:id="rId54"/>
    <p:sldId id="561" r:id="rId55"/>
    <p:sldId id="560" r:id="rId56"/>
    <p:sldId id="559" r:id="rId57"/>
    <p:sldId id="562" r:id="rId58"/>
    <p:sldId id="332" r:id="rId59"/>
    <p:sldId id="480" r:id="rId60"/>
    <p:sldId id="695" r:id="rId61"/>
    <p:sldId id="696" r:id="rId62"/>
    <p:sldId id="697" r:id="rId63"/>
    <p:sldId id="481" r:id="rId64"/>
    <p:sldId id="563" r:id="rId65"/>
    <p:sldId id="482" r:id="rId66"/>
    <p:sldId id="744" r:id="rId67"/>
    <p:sldId id="564" r:id="rId68"/>
    <p:sldId id="565" r:id="rId69"/>
    <p:sldId id="566" r:id="rId70"/>
    <p:sldId id="567" r:id="rId71"/>
    <p:sldId id="634" r:id="rId72"/>
    <p:sldId id="632" r:id="rId73"/>
    <p:sldId id="633" r:id="rId74"/>
    <p:sldId id="336" r:id="rId75"/>
  </p:sldIdLst>
  <p:sldSz cx="12192000" cy="6858000"/>
  <p:notesSz cx="6858000" cy="9144000"/>
  <p:custDataLst>
    <p:tags r:id="rId7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518C"/>
    <a:srgbClr val="314F86"/>
    <a:srgbClr val="2E4978"/>
    <a:srgbClr val="3F63A1"/>
    <a:srgbClr val="D0D3DB"/>
    <a:srgbClr val="283F67"/>
    <a:srgbClr val="4B4E99"/>
    <a:srgbClr val="3C3F8E"/>
    <a:srgbClr val="173AA1"/>
    <a:srgbClr val="571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666"/>
  </p:normalViewPr>
  <p:slideViewPr>
    <p:cSldViewPr snapToGrid="0" snapToObjects="1">
      <p:cViewPr varScale="1">
        <p:scale>
          <a:sx n="81" d="100"/>
          <a:sy n="81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9" Type="http://schemas.openxmlformats.org/officeDocument/2006/relationships/tags" Target="tags/tag5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/>
            <a:r>
              <a:rPr lang="zh-CN" altLang="en-US" dirty="0">
                <a:sym typeface="+mn-ea"/>
              </a:rPr>
              <a:t>1.TCP三次握手时下列哪种情况未发生（）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A.确认序列号   B.MSS    C.滑动窗口大小    D.拥塞控制大小</a:t>
            </a: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TOKEN_PLUS)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AddNode(node,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SubNode(node,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TOKEN_MULTIPLY)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MultiplyNode(node,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TOKEN_DIVIDE)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Node* nodeRight = Term();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DivideNode(node, nodeRight);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Node* Parser::Factor()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Node* node = 0;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if (token == TOKEN_LPARENTHESIS)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		// accept '('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Expr();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if (scanner_.Token() == TOKEN_RPARENTHESIS)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	scanner_.Accept();	// accept ')'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	status_ = STATUS_ERROR;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	// Todo:</a:t>
            </a:r>
            <a:r>
              <a:rPr lang="zh-CN" altLang="en-US" dirty="0">
                <a:sym typeface="+mn-ea"/>
              </a:rPr>
              <a:t>抛出异常</a:t>
            </a:r>
            <a:endParaRPr lang="zh-CN" altLang="en-US" dirty="0"/>
          </a:p>
          <a:p>
            <a:pPr lvl="0">
              <a:lnSpc>
                <a:spcPct val="80000"/>
              </a:lnSpc>
            </a:pPr>
            <a:r>
              <a:rPr lang="zh-CN" altLang="en-US" dirty="0">
                <a:sym typeface="+mn-ea"/>
              </a:rPr>
              <a:t>			</a:t>
            </a:r>
            <a:r>
              <a:rPr lang="en-US" altLang="zh-CN" dirty="0">
                <a:sym typeface="+mn-ea"/>
              </a:rPr>
              <a:t>std::cout&lt;&lt;"missing parenthesis"&lt;&lt;std::endl;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	node = 0;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TOKEN_NUMBER)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NumberNode(scanner_.Number());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 if (token == TOKEN_MINUS)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scanner_.Accept();		// accept minus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new UMinusNode(Factor());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else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status_ = STATUS_ERROR;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// Todo:</a:t>
            </a:r>
            <a:r>
              <a:rPr lang="zh-CN" altLang="en-US" dirty="0">
                <a:sym typeface="+mn-ea"/>
              </a:rPr>
              <a:t>抛出异常</a:t>
            </a:r>
            <a:endParaRPr lang="zh-CN" altLang="en-US" dirty="0"/>
          </a:p>
          <a:p>
            <a:pPr lvl="0">
              <a:lnSpc>
                <a:spcPct val="80000"/>
              </a:lnSpc>
            </a:pPr>
            <a:r>
              <a:rPr lang="zh-CN" altLang="en-US" dirty="0">
                <a:sym typeface="+mn-ea"/>
              </a:rPr>
              <a:t>		</a:t>
            </a:r>
            <a:r>
              <a:rPr lang="en-US" altLang="zh-CN" dirty="0">
                <a:sym typeface="+mn-ea"/>
              </a:rPr>
              <a:t>std::cout&lt;&lt;"not a valid expression"&lt;&lt;std::endl;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	node = 0;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8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8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1. Node.h</a:t>
            </a:r>
            <a:r>
              <a:rPr lang="zh-CN" altLang="en-US" dirty="0">
                <a:sym typeface="+mn-ea"/>
              </a:rPr>
              <a:t>中添加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MultipleNode : public 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MultipleNode(Node*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AppendChild(node, true);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void AppendChild(Node* node, bool positive)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childs_.push_back(node);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positives_.push_back(positive);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~MultipleNode();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protected: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 childs_;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 positives_;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SumNode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SumNode(Node*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class ProductNode : public MultipleNode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ProductNode(Node* node)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: MultipleNode(node) {}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Calc() const;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2. node.cpp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MultipleNode::~MultipleNode()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(it = childs_.begin(); it != childs_.end(); ++it)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delete *it;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SumNode::Calc()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0.0;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+=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-=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double ProductNode::Calc() const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double result = 1.0;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std::vector&lt;Node*&gt;::const_iterator childIt = childs_.begin();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std::vector&lt;bool&gt;::const_iterator positiveIt = positives_.begin();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for (; childIt != childs_.end(); ++childIt, ++positiveIt)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assert(positiveIt !=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double val = (*childIt)-&gt;Calc();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if (*positiveIt)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*=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 if (val != 0.0)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result /= 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else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std::cout&lt;&lt;"Division by zero."&lt;&lt;std::endl;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return HUGE_VAL;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assert(positiveIt == positives_.end());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result;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3. Parser</a:t>
            </a:r>
            <a:r>
              <a:rPr lang="zh-CN" altLang="en-US" dirty="0">
                <a:sym typeface="+mn-ea"/>
              </a:rPr>
              <a:t>类也要进行相应的修改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Parser::Expr()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TOKEN_PLUS)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AddNode(node,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Expr();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SubNode(node,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TOKEN_PLUS || token == TOKEN_MINUS)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Expr := Term { ('+' | '-') Term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SumNode(node);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TOKEN_PLUS));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TOKEN_PLUS || token == TOKEN_MINUS);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Node* Parser::Term()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Node* 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EToken 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//if (token == TOKEN_MULTIPLY)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MultiplyNode(node,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//else if (token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Node* nodeRight = Term();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	node = new DivideNode(node, nodeRight);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//}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if (token == TOKEN_MULTIPLY || token == TOKEN_DIVIDE)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// Term := Factor { ('*' | '/') Factor 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MultipleNode* multipleNode = new ProductNode(node);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do 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{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scanner_.Accept();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Node* nextNode = Factor();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multipleNode-&gt;AppendChild(nextNode, (token == TOKEN_MULTIPLY));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	token = scanner_.Token();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} while (token == TOKEN_MULTIPLY || token == TOKEN_DIVIDE);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	node = multipleNode;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	return node;</a:t>
            </a:r>
            <a:endParaRPr lang="en-US" altLang="zh-CN" dirty="0"/>
          </a:p>
          <a:p>
            <a:pPr lvl="0">
              <a:lnSpc>
                <a:spcPct val="90000"/>
              </a:lnSpc>
            </a:pP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lvl="0">
              <a:lnSpc>
                <a:spcPct val="90000"/>
              </a:lnSpc>
            </a:pP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4E6521-3772-1A49-B8DB-1524D6377A8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DBCD1-CB50-3040-88C6-C052A463E31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副本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8900" y="90805"/>
            <a:ext cx="1682115" cy="4413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43300" y="2038985"/>
            <a:ext cx="4986020" cy="11068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131945" y="5213350"/>
            <a:ext cx="3935730" cy="39878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王道</a:t>
            </a:r>
            <a:r>
              <a:rPr kumimoji="1" lang="en-US" altLang="zh-CN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</a:t>
            </a:r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</a:t>
            </a:r>
            <a:endParaRPr kumimoji="1" lang="zh-CN" altLang="en-US" sz="2000" dirty="0">
              <a:ln>
                <a:noFill/>
              </a:ln>
              <a:solidFill>
                <a:srgbClr val="3C3F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02355" y="2236470"/>
            <a:ext cx="48672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b="1" dirty="0">
                <a:solidFill>
                  <a:schemeClr val="bg1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并发服务器模型</a:t>
            </a:r>
            <a:endParaRPr kumimoji="1" lang="zh-CN" altLang="en-US" sz="4800" b="1" dirty="0">
              <a:solidFill>
                <a:schemeClr val="bg1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387725" y="3720465"/>
            <a:ext cx="5416550" cy="0"/>
          </a:xfrm>
          <a:prstGeom prst="line">
            <a:avLst/>
          </a:prstGeom>
          <a:ln w="38100">
            <a:solidFill>
              <a:srgbClr val="3F63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536315" y="3996690"/>
            <a:ext cx="502920" cy="502920"/>
          </a:xfrm>
          <a:prstGeom prst="ellipse">
            <a:avLst/>
          </a:prstGeom>
          <a:noFill/>
          <a:ln>
            <a:solidFill>
              <a:srgbClr val="3F63A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flipH="1">
            <a:off x="4235450" y="402209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712460" y="4022090"/>
            <a:ext cx="2068195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F63A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95310" y="4022090"/>
            <a:ext cx="464185" cy="464185"/>
          </a:xfrm>
          <a:prstGeom prst="rect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28770" y="5701665"/>
            <a:ext cx="3935730" cy="39878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ctr"/>
            <a:r>
              <a:rPr kumimoji="1" lang="en-US" altLang="zh-CN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kumimoji="1" lang="zh-CN" altLang="en-US" sz="2000" dirty="0">
                <a:ln>
                  <a:noFill/>
                </a:ln>
                <a:solidFill>
                  <a:srgbClr val="3C3F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kumimoji="1" lang="zh-CN" altLang="en-US" sz="2000" dirty="0">
              <a:ln>
                <a:noFill/>
              </a:ln>
              <a:solidFill>
                <a:srgbClr val="3C3F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7390" y="612775"/>
            <a:ext cx="3484880" cy="581215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66850" y="2682875"/>
            <a:ext cx="1965960" cy="101473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6000" b="1" dirty="0">
                <a:solidFill>
                  <a:schemeClr val="bg1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目录</a:t>
            </a:r>
            <a:endParaRPr kumimoji="1" lang="zh-CN" altLang="en-US" sz="6000" b="1" dirty="0">
              <a:solidFill>
                <a:schemeClr val="bg1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16025" y="1243364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88085" y="2887990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36360" y="2139950"/>
            <a:ext cx="4504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36142" y="2919993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多路复用模型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36142" y="3632807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五种网络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36360" y="4455160"/>
            <a:ext cx="5120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常见并发服务器方案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36358" y="5314690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Reactor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模型封装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36358" y="1233432"/>
            <a:ext cx="309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计算机网络概述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6020" y="3697605"/>
            <a:ext cx="2547620" cy="58356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p>
            <a:pPr algn="dist"/>
            <a:r>
              <a:rPr kumimoji="1" lang="en-US" altLang="zh-CN" sz="3200" dirty="0">
                <a:solidFill>
                  <a:schemeClr val="bg1"/>
                </a:solidFill>
                <a:latin typeface="Hiragino Sans GB W3" panose="020B0300000000000000" charset="-122"/>
                <a:ea typeface="Hiragino Sans GB W3" panose="020B0300000000000000" charset="-122"/>
              </a:rPr>
              <a:t>CONTENTS</a:t>
            </a:r>
            <a:endParaRPr kumimoji="1" lang="en-US" altLang="zh-CN" sz="3200" dirty="0">
              <a:solidFill>
                <a:schemeClr val="bg1"/>
              </a:solidFill>
              <a:latin typeface="Hiragino Sans GB W3" panose="020B0300000000000000" charset="-122"/>
              <a:ea typeface="Hiragino Sans GB W3" panose="020B03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 rot="1500000">
            <a:off x="3020695" y="419100"/>
            <a:ext cx="191135" cy="137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021965" y="443230"/>
            <a:ext cx="701675" cy="15913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988695" y="5240020"/>
            <a:ext cx="701675" cy="15913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5544185" y="1233170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/>
        </p:nvSpPr>
        <p:spPr>
          <a:xfrm flipH="1">
            <a:off x="5058410" y="205740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152390" y="2887345"/>
            <a:ext cx="962660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C3F8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63870" y="3601720"/>
            <a:ext cx="464185" cy="464185"/>
          </a:xfrm>
          <a:prstGeom prst="rect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16025" y="2107905"/>
            <a:ext cx="5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499515" y="3602036"/>
            <a:ext cx="558802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F63A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11580" y="4465354"/>
            <a:ext cx="558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2800" b="1" dirty="0">
                <a:solidFill>
                  <a:srgbClr val="3F63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kumimoji="1" lang="en-US" altLang="zh-CN" sz="2800" b="1" dirty="0">
              <a:solidFill>
                <a:srgbClr val="3F63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539740" y="4455160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直角三角形 30"/>
          <p:cNvSpPr/>
          <p:nvPr/>
        </p:nvSpPr>
        <p:spPr>
          <a:xfrm flipH="1">
            <a:off x="5053965" y="5279390"/>
            <a:ext cx="1016635" cy="464185"/>
          </a:xfrm>
          <a:prstGeom prst="rtTriangle">
            <a:avLst/>
          </a:prstGeom>
          <a:solidFill>
            <a:srgbClr val="3F63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511580" y="5329895"/>
            <a:ext cx="55880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605405" y="3154045"/>
            <a:ext cx="69818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计算机网络概述</a:t>
            </a:r>
            <a:endParaRPr kumimoji="1" lang="zh-CN" altLang="en-US" sz="48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994910" y="2778760"/>
            <a:ext cx="2202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59375" y="1948815"/>
            <a:ext cx="1873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ONE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742315" y="686435"/>
            <a:ext cx="8752840" cy="732155"/>
          </a:xfrm>
        </p:spPr>
        <p:txBody>
          <a:bodyPr anchor="ctr"/>
          <a:p>
            <a:r>
              <a:rPr lang="zh-CN" altLang="en-US"/>
              <a:t>七层协议</a:t>
            </a:r>
            <a:r>
              <a:rPr lang="en-US" altLang="zh-CN"/>
              <a:t>  vs  </a:t>
            </a:r>
            <a:r>
              <a:rPr lang="zh-CN" altLang="en-US"/>
              <a:t>四</a:t>
            </a:r>
            <a:r>
              <a:rPr lang="en-US" altLang="zh-CN"/>
              <a:t>(</a:t>
            </a:r>
            <a:r>
              <a:rPr lang="zh-CN" altLang="en-US"/>
              <a:t>五</a:t>
            </a:r>
            <a:r>
              <a:rPr lang="en-US" altLang="zh-CN"/>
              <a:t>)</a:t>
            </a:r>
            <a:r>
              <a:rPr lang="zh-CN" altLang="en-US"/>
              <a:t>层</a:t>
            </a:r>
            <a:r>
              <a:rPr lang="zh-CN" altLang="en-US"/>
              <a:t>协议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0" y="1571625"/>
            <a:ext cx="799465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180" y="2045970"/>
            <a:ext cx="9592310" cy="3744595"/>
          </a:xfrm>
          <a:prstGeom prst="rect">
            <a:avLst/>
          </a:prstGeom>
        </p:spPr>
      </p:pic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742315" y="686435"/>
            <a:ext cx="8752840" cy="732155"/>
          </a:xfrm>
        </p:spPr>
        <p:txBody>
          <a:bodyPr anchor="ctr"/>
          <a:p>
            <a:r>
              <a:rPr lang="zh-CN" altLang="en-US"/>
              <a:t>每一层上的数据</a:t>
            </a:r>
            <a:r>
              <a:rPr lang="zh-CN" altLang="en-US"/>
              <a:t>包分别叫什么</a:t>
            </a:r>
            <a:r>
              <a:rPr lang="zh-CN" altLang="en-US"/>
              <a:t>呢？</a:t>
            </a:r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301740" y="2446655"/>
            <a:ext cx="16922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316980" y="2472055"/>
            <a:ext cx="0" cy="33185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004175" y="2458720"/>
            <a:ext cx="0" cy="33185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316980" y="5790565"/>
            <a:ext cx="169227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zh-CN" altLang="en-US" dirty="0"/>
              <a:t>数据的封装</a:t>
            </a:r>
            <a:r>
              <a:rPr lang="zh-CN" altLang="en-US" dirty="0"/>
              <a:t>示意图</a:t>
            </a:r>
            <a:endParaRPr lang="zh-CN" altLang="en-US" dirty="0"/>
          </a:p>
        </p:txBody>
      </p:sp>
      <p:sp>
        <p:nvSpPr>
          <p:cNvPr id="30723" name="TextBox 6"/>
          <p:cNvSpPr txBox="1"/>
          <p:nvPr/>
        </p:nvSpPr>
        <p:spPr>
          <a:xfrm>
            <a:off x="1037590" y="1691005"/>
            <a:ext cx="5000625" cy="8299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indent="0">
              <a:buFont typeface="Wingdings" panose="05000000000000000000" charset="0"/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125" y="1783080"/>
            <a:ext cx="8232775" cy="4029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4994910" y="2778760"/>
            <a:ext cx="2202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59375" y="1948815"/>
            <a:ext cx="1873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TWO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36315" y="3260090"/>
            <a:ext cx="5120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TCP</a:t>
            </a:r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协议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1781810"/>
            <a:ext cx="9869805" cy="4438015"/>
          </a:xfrm>
        </p:spPr>
        <p:txBody>
          <a:bodyPr wrap="square" anchor="t"/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协议是一个传输层的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是面向连接的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是全双工的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是一个字节流的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是一个可靠的</a:t>
            </a:r>
            <a:r>
              <a:rPr lang="zh-CN" altLang="en-US" sz="2400" dirty="0"/>
              <a:t>协议</a:t>
            </a:r>
            <a:endParaRPr lang="zh-CN" altLang="en-US" sz="2400" dirty="0"/>
          </a:p>
          <a:p>
            <a:pPr>
              <a:buFont typeface="Wingdings" panose="05000000000000000000" charset="0"/>
              <a:buChar char="l"/>
            </a:pPr>
            <a:r>
              <a:rPr lang="en-US" altLang="zh-CN" sz="2400" dirty="0"/>
              <a:t>TCP</a:t>
            </a:r>
            <a:r>
              <a:rPr lang="zh-CN" altLang="en-US" sz="2400" dirty="0"/>
              <a:t>是一个可以进行流量控制的</a:t>
            </a:r>
            <a:r>
              <a:rPr lang="zh-CN" altLang="en-US" sz="2400" dirty="0"/>
              <a:t>协议</a:t>
            </a:r>
            <a:endParaRPr lang="zh-CN" altLang="en-US" sz="2400" dirty="0"/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altLang="zh-CN" dirty="0"/>
              <a:t>TCP</a:t>
            </a:r>
            <a:r>
              <a:rPr lang="zh-CN" altLang="en-US" dirty="0"/>
              <a:t>协议的</a:t>
            </a:r>
            <a:r>
              <a:rPr lang="zh-CN" altLang="en-US" dirty="0"/>
              <a:t>特点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801" y="61954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2529" name="图片 1" descr="tcp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510" y="651510"/>
            <a:ext cx="8141335" cy="5356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4577" name="图片 1" descr="udp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368" y="619760"/>
            <a:ext cx="7937500" cy="5691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282700" y="561340"/>
            <a:ext cx="10262870" cy="56762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048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015" y="431165"/>
            <a:ext cx="6772910" cy="5806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895350" y="2898775"/>
            <a:ext cx="7086600" cy="731838"/>
          </a:xfrm>
        </p:spPr>
        <p:txBody>
          <a:bodyPr wrap="square" anchor="ctr" anchorCtr="0"/>
          <a:p>
            <a:r>
              <a:rPr lang="zh-CN" altLang="en-US" dirty="0"/>
              <a:t>状</a:t>
            </a:r>
            <a:br>
              <a:rPr lang="en-US" altLang="zh-CN" dirty="0"/>
            </a:br>
            <a:r>
              <a:rPr lang="zh-CN" altLang="en-US" dirty="0"/>
              <a:t>态</a:t>
            </a:r>
            <a:br>
              <a:rPr lang="en-US" altLang="zh-CN" dirty="0"/>
            </a:br>
            <a:r>
              <a:rPr lang="zh-CN" altLang="en-US" dirty="0"/>
              <a:t>迁</a:t>
            </a:r>
            <a:br>
              <a:rPr lang="en-US" altLang="zh-CN" dirty="0"/>
            </a:br>
            <a:r>
              <a:rPr lang="zh-CN" altLang="en-US" dirty="0"/>
              <a:t>移</a:t>
            </a:r>
            <a:br>
              <a:rPr lang="en-US" altLang="zh-CN" dirty="0"/>
            </a:br>
            <a:r>
              <a:rPr lang="zh-CN" altLang="en-US" dirty="0"/>
              <a:t>图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6625" name="文本框 1"/>
          <p:cNvSpPr txBox="1"/>
          <p:nvPr/>
        </p:nvSpPr>
        <p:spPr>
          <a:xfrm>
            <a:off x="908685" y="1691005"/>
            <a:ext cx="1040384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1) 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LISTEN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:首先服务端需要打开一个socket进行监听，状态为LISTEN.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2) 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SYN_SENT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:客户端通过应用程序调用connect进行active open.于是客户端tcp发送一个SYN以请求建立一个连接.之后状态置为SYN_SENT.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3)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SYN_RECV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:服务端应发出ACK确认客户端的SYN,同时自己向客户端发送一个SYN. 之后状态置为SYN_RECV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4) 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ESTABLISHED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 代表一个打开的连接，双方可以进行或已经在数据交互了。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5)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FIN_WAIT1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:主动关闭(active close)端应用程序调用close，于是其TCP发出FIN请求主动关闭连接，之后进入FIN_WAIT1状态.（等待对本端连接的中断请求的确认）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6)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CLOSE_WAIT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:被动关闭(passive close)端TCP接到FIN后，就发出ACK以回应FIN请求(它的接收也作为文件结束符传递给上层应用程序),并进入CLOSE_WAIT.（等待从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本地用户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发来的连接中断请求）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>
          <a:xfrm>
            <a:off x="838200" y="574675"/>
            <a:ext cx="10515600" cy="1325563"/>
          </a:xfrm>
        </p:spPr>
        <p:txBody>
          <a:bodyPr/>
          <a:p>
            <a:r>
              <a:rPr lang="zh-CN" altLang="en-US"/>
              <a:t>状态解析</a:t>
            </a:r>
            <a:r>
              <a:rPr lang="en-US" altLang="zh-CN"/>
              <a:t>01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>
          <a:xfrm>
            <a:off x="838200" y="57467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状态解析</a:t>
            </a:r>
            <a:r>
              <a:rPr lang="en-US" altLang="zh-CN">
                <a:sym typeface="+mn-ea"/>
              </a:rPr>
              <a:t>02</a:t>
            </a:r>
            <a:br>
              <a:rPr lang="en-US" altLang="zh-CN"/>
            </a:br>
            <a:endParaRPr lang="zh-CN" altLang="en-US"/>
          </a:p>
        </p:txBody>
      </p:sp>
      <p:sp>
        <p:nvSpPr>
          <p:cNvPr id="28673" name="文本框 1"/>
          <p:cNvSpPr txBox="1"/>
          <p:nvPr/>
        </p:nvSpPr>
        <p:spPr>
          <a:xfrm>
            <a:off x="895985" y="1840230"/>
            <a:ext cx="990409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7)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FIN_WAIT2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:主动关闭端接到ACK后，就进入了FIN-WAIT-2（等待从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远程TCP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对连接的中断请求）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8)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LAST_ACK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:被动关闭端一段时间后，接收到文件结束符的应用程序将调用CLOSE关闭连接。这导致它的TCP也发送一个 FIN,等待对方的ACK.就进入了LAST-ACK .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9)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TIME_WAIT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:在主动关闭端接收到FIN后，TCP就发送ACK包，并进入TIME-WAIT状态。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10)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CLOSING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: 比较少见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等待远程TCP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对连接中断的确认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11)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CLOSED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: 被动关闭端在接受到ACK包后，就进入了closed的状态。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连接结束.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32769" name="图片 1" descr="tcp_sta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1275" y="401003"/>
            <a:ext cx="6242050" cy="6018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3" name="标题 12"/>
          <p:cNvSpPr/>
          <p:nvPr>
            <p:ph type="title"/>
          </p:nvPr>
        </p:nvSpPr>
        <p:spPr>
          <a:xfrm>
            <a:off x="838200" y="574675"/>
            <a:ext cx="10515600" cy="1325563"/>
          </a:xfrm>
        </p:spPr>
        <p:txBody>
          <a:bodyPr/>
          <a:p>
            <a:br>
              <a:rPr lang="en-US" altLang="zh-CN"/>
            </a:b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57325" y="236220"/>
            <a:ext cx="8919210" cy="6156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4037965" y="2065020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6094095" y="2125980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62045" y="1437005"/>
            <a:ext cx="704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908675" y="1478280"/>
            <a:ext cx="772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server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201795" y="3865880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280535" y="4490085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66895" y="21888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942205" y="489013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45110" y="2163445"/>
            <a:ext cx="3611880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如果第一次握手的报文在网络中</a:t>
            </a:r>
            <a:endParaRPr lang="zh-CN" altLang="en-US"/>
          </a:p>
          <a:p>
            <a:r>
              <a:rPr lang="zh-CN" altLang="en-US"/>
              <a:t>被延迟了，当该被延迟的报文重新</a:t>
            </a:r>
            <a:endParaRPr lang="zh-CN" altLang="en-US"/>
          </a:p>
          <a:p>
            <a:r>
              <a:rPr lang="zh-CN" altLang="en-US"/>
              <a:t>到达服务器后，服务器会认为这是</a:t>
            </a:r>
            <a:endParaRPr lang="zh-CN" altLang="en-US"/>
          </a:p>
          <a:p>
            <a:r>
              <a:rPr lang="zh-CN" altLang="en-US"/>
              <a:t>客户端新起的一个连接，从而等待</a:t>
            </a:r>
            <a:endParaRPr lang="zh-CN" altLang="en-US"/>
          </a:p>
          <a:p>
            <a:r>
              <a:rPr lang="zh-CN" altLang="en-US"/>
              <a:t>客户端发送请求；但此时我们知道</a:t>
            </a:r>
            <a:endParaRPr lang="zh-CN" altLang="en-US"/>
          </a:p>
          <a:p>
            <a:r>
              <a:rPr lang="zh-CN" altLang="en-US"/>
              <a:t>客户端根本就没有该需求。这样会</a:t>
            </a:r>
            <a:endParaRPr lang="zh-CN" altLang="en-US"/>
          </a:p>
          <a:p>
            <a:r>
              <a:rPr lang="zh-CN" altLang="en-US"/>
              <a:t>造成服务器端资源的浪费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2275" y="842645"/>
            <a:ext cx="41897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假设认为使用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次握手，就可以建立连接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201795" y="2344420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60265" y="3849370"/>
            <a:ext cx="7607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重发</a:t>
            </a:r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4037965" y="2065020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6094095" y="2125980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662045" y="1437005"/>
            <a:ext cx="704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908675" y="1478280"/>
            <a:ext cx="772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server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177030" y="501840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133850" y="2986405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66895" y="21888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670425" y="32556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742555" y="2239645"/>
            <a:ext cx="384048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如果第二次握手的报文丢失？</a:t>
            </a:r>
            <a:endParaRPr lang="zh-CN" altLang="en-US"/>
          </a:p>
          <a:p>
            <a:r>
              <a:rPr lang="zh-CN" altLang="en-US"/>
              <a:t>因为只有两次握手，当服务器发送完</a:t>
            </a:r>
            <a:endParaRPr lang="zh-CN" altLang="en-US"/>
          </a:p>
          <a:p>
            <a:r>
              <a:rPr lang="zh-CN" altLang="en-US"/>
              <a:t>确认报文之后，就认为连接已经建立</a:t>
            </a:r>
            <a:endParaRPr lang="zh-CN" altLang="en-US"/>
          </a:p>
          <a:p>
            <a:r>
              <a:rPr lang="zh-CN" altLang="en-US"/>
              <a:t>好了（不需要第三次确认），但是客</a:t>
            </a:r>
            <a:endParaRPr lang="zh-CN" altLang="en-US"/>
          </a:p>
          <a:p>
            <a:r>
              <a:rPr lang="zh-CN" altLang="en-US"/>
              <a:t>户端根本就没有收到确认报文。此时</a:t>
            </a:r>
            <a:endParaRPr lang="zh-CN" altLang="en-US"/>
          </a:p>
          <a:p>
            <a:r>
              <a:rPr lang="zh-CN" altLang="en-US"/>
              <a:t>服务器也会傻傻地等待客户端发送数</a:t>
            </a:r>
            <a:endParaRPr lang="zh-CN" altLang="en-US"/>
          </a:p>
          <a:p>
            <a:r>
              <a:rPr lang="zh-CN" altLang="en-US"/>
              <a:t>据过来。因此也会造成服务器资源的</a:t>
            </a:r>
            <a:endParaRPr lang="zh-CN" altLang="en-US"/>
          </a:p>
          <a:p>
            <a:r>
              <a:rPr lang="zh-CN" altLang="en-US"/>
              <a:t>浪费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2275" y="842645"/>
            <a:ext cx="41897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假设认为使用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次握手，就可以建立连接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201795" y="2344420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7541260" y="2138045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9597390" y="2199005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165340" y="1510030"/>
            <a:ext cx="704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411970" y="1551305"/>
            <a:ext cx="772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server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721600" y="434149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7687945" y="3691255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327390" y="2236470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419465" y="31286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45110" y="2163445"/>
            <a:ext cx="479425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当进行第三次挥手时，客户端如果收到了</a:t>
            </a:r>
            <a:endParaRPr lang="zh-CN" altLang="en-US"/>
          </a:p>
          <a:p>
            <a:r>
              <a:rPr lang="en-US" altLang="zh-CN"/>
              <a:t>FIN</a:t>
            </a:r>
            <a:r>
              <a:rPr lang="zh-CN" altLang="en-US"/>
              <a:t>，并且回复了</a:t>
            </a:r>
            <a:r>
              <a:rPr lang="en-US" altLang="zh-CN"/>
              <a:t>ACK</a:t>
            </a:r>
            <a:r>
              <a:rPr lang="zh-CN" altLang="en-US"/>
              <a:t>之后，马上进入到</a:t>
            </a:r>
            <a:r>
              <a:rPr lang="en-US" altLang="zh-CN"/>
              <a:t>Closed</a:t>
            </a:r>
            <a:endParaRPr lang="en-US" altLang="zh-CN"/>
          </a:p>
          <a:p>
            <a:r>
              <a:rPr lang="zh-CN" altLang="en-US"/>
              <a:t>此时会有什么问题呢？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2275" y="842645"/>
            <a:ext cx="31222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假设</a:t>
            </a:r>
            <a:r>
              <a:rPr lang="zh-CN">
                <a:solidFill>
                  <a:srgbClr val="FF0000"/>
                </a:solidFill>
              </a:rPr>
              <a:t>没有</a:t>
            </a:r>
            <a:r>
              <a:rPr lang="en-US" altLang="zh-CN">
                <a:solidFill>
                  <a:srgbClr val="FF0000"/>
                </a:solidFill>
              </a:rPr>
              <a:t>TIME_WAIT</a:t>
            </a:r>
            <a:r>
              <a:rPr lang="zh-CN" altLang="en-US">
                <a:solidFill>
                  <a:srgbClr val="FF0000"/>
                </a:solidFill>
              </a:rPr>
              <a:t>状态之后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705090" y="241744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>
            <a:off x="7663180" y="2926080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370570" y="3992245"/>
            <a:ext cx="6985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3 FIN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8367395" y="4628515"/>
            <a:ext cx="779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 ACK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5664200" y="3992245"/>
            <a:ext cx="11550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Time_wait</a:t>
            </a:r>
            <a:endParaRPr lang="en-US" altLang="zh-CN"/>
          </a:p>
        </p:txBody>
      </p:sp>
      <p:cxnSp>
        <p:nvCxnSpPr>
          <p:cNvPr id="18" name="直接连接符 17"/>
          <p:cNvCxnSpPr/>
          <p:nvPr/>
        </p:nvCxnSpPr>
        <p:spPr>
          <a:xfrm>
            <a:off x="6062345" y="3999865"/>
            <a:ext cx="474980" cy="491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6111875" y="3999865"/>
            <a:ext cx="425450" cy="566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45110" y="3731895"/>
            <a:ext cx="508698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如果最后一个</a:t>
            </a:r>
            <a:r>
              <a:rPr lang="en-US" altLang="zh-CN"/>
              <a:t>ACK</a:t>
            </a:r>
            <a:r>
              <a:rPr lang="zh-CN" altLang="en-US"/>
              <a:t>丢失，那么服务器端会认为</a:t>
            </a:r>
            <a:endParaRPr lang="zh-CN" altLang="en-US"/>
          </a:p>
          <a:p>
            <a:r>
              <a:rPr lang="zh-CN" altLang="en-US"/>
              <a:t>该连接没有正常断开，就会重发</a:t>
            </a:r>
            <a:r>
              <a:rPr lang="en-US" altLang="zh-CN"/>
              <a:t>FIN</a:t>
            </a:r>
            <a:r>
              <a:rPr lang="zh-CN" altLang="en-US"/>
              <a:t>报文。但此时</a:t>
            </a:r>
            <a:endParaRPr lang="zh-CN" altLang="en-US"/>
          </a:p>
          <a:p>
            <a:r>
              <a:rPr lang="zh-CN" altLang="en-US"/>
              <a:t>客户端都已经进入到</a:t>
            </a:r>
            <a:r>
              <a:rPr lang="en-US" altLang="zh-CN"/>
              <a:t>CLOSED</a:t>
            </a:r>
            <a:r>
              <a:rPr lang="zh-CN" altLang="en-US"/>
              <a:t>状态，不会</a:t>
            </a:r>
            <a:endParaRPr lang="zh-CN" altLang="en-US"/>
          </a:p>
          <a:p>
            <a:r>
              <a:rPr lang="zh-CN" altLang="en-US"/>
              <a:t>再理会。整个连接就没有办法正常断开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H="1">
            <a:off x="7541260" y="2138045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9597390" y="2199005"/>
            <a:ext cx="3810" cy="4123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165340" y="1510030"/>
            <a:ext cx="704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411970" y="1551305"/>
            <a:ext cx="7721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server</a:t>
            </a:r>
            <a:endParaRPr lang="en-US" altLang="zh-CN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721600" y="434149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7687945" y="3691255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327390" y="2236470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419465" y="3128645"/>
            <a:ext cx="3035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45110" y="2163445"/>
            <a:ext cx="63550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2.</a:t>
            </a:r>
            <a:r>
              <a:rPr lang="zh-CN"/>
              <a:t>假设第一次连接已经结束。此时客户端再起一个连接，</a:t>
            </a:r>
            <a:endParaRPr lang="zh-CN"/>
          </a:p>
          <a:p>
            <a:r>
              <a:rPr lang="zh-CN">
                <a:solidFill>
                  <a:srgbClr val="FF0000"/>
                </a:solidFill>
              </a:rPr>
              <a:t>四元组信息</a:t>
            </a:r>
            <a:r>
              <a:rPr lang="zh-CN"/>
              <a:t>与第一次起的连接是</a:t>
            </a:r>
            <a:r>
              <a:rPr lang="zh-CN">
                <a:solidFill>
                  <a:srgbClr val="FF0000"/>
                </a:solidFill>
              </a:rPr>
              <a:t>相同</a:t>
            </a:r>
            <a:r>
              <a:rPr lang="zh-CN"/>
              <a:t>的，</a:t>
            </a:r>
            <a:r>
              <a:rPr lang="en-US" altLang="zh-CN"/>
              <a:t> </a:t>
            </a:r>
            <a:r>
              <a:rPr lang="zh-CN" altLang="en-US"/>
              <a:t>如果第一次连接</a:t>
            </a:r>
            <a:endParaRPr lang="zh-CN" altLang="en-US"/>
          </a:p>
          <a:p>
            <a:r>
              <a:rPr lang="zh-CN" altLang="en-US"/>
              <a:t>中有被网络延迟的数据到达了，一定会被第二个连接接收的，</a:t>
            </a:r>
            <a:endParaRPr lang="zh-CN" altLang="en-US"/>
          </a:p>
          <a:p>
            <a:r>
              <a:rPr lang="zh-CN" altLang="en-US"/>
              <a:t>很明显这是两个不同的连接，最终造成</a:t>
            </a:r>
            <a:r>
              <a:rPr lang="zh-CN" altLang="en-US" b="1">
                <a:solidFill>
                  <a:srgbClr val="FF0000"/>
                </a:solidFill>
              </a:rPr>
              <a:t>数据蹿链</a:t>
            </a:r>
            <a:r>
              <a:rPr lang="zh-CN" altLang="en-US"/>
              <a:t>的问题出现。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2275" y="842645"/>
            <a:ext cx="31222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假设</a:t>
            </a:r>
            <a:r>
              <a:rPr lang="zh-CN">
                <a:solidFill>
                  <a:srgbClr val="FF0000"/>
                </a:solidFill>
              </a:rPr>
              <a:t>没有</a:t>
            </a:r>
            <a:r>
              <a:rPr lang="en-US" altLang="zh-CN">
                <a:solidFill>
                  <a:srgbClr val="FF0000"/>
                </a:solidFill>
              </a:rPr>
              <a:t>TIME_WAIT</a:t>
            </a:r>
            <a:r>
              <a:rPr lang="zh-CN" altLang="en-US">
                <a:solidFill>
                  <a:srgbClr val="FF0000"/>
                </a:solidFill>
              </a:rPr>
              <a:t>状态之后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705090" y="2417445"/>
            <a:ext cx="1833880" cy="413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>
            <a:off x="7663180" y="2926080"/>
            <a:ext cx="1867535" cy="3676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370570" y="3992245"/>
            <a:ext cx="6985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3 FIN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8367395" y="4628515"/>
            <a:ext cx="779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 ACK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5664200" y="3992245"/>
            <a:ext cx="11550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Time_wait</a:t>
            </a:r>
            <a:endParaRPr lang="en-US" altLang="zh-CN"/>
          </a:p>
        </p:txBody>
      </p:sp>
      <p:cxnSp>
        <p:nvCxnSpPr>
          <p:cNvPr id="18" name="直接连接符 17"/>
          <p:cNvCxnSpPr/>
          <p:nvPr/>
        </p:nvCxnSpPr>
        <p:spPr>
          <a:xfrm>
            <a:off x="6062345" y="3999865"/>
            <a:ext cx="474980" cy="491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6111875" y="3999865"/>
            <a:ext cx="425450" cy="566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370955" y="4566285"/>
            <a:ext cx="9937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CLOSED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15560" y="2378710"/>
            <a:ext cx="2016125" cy="2061210"/>
          </a:xfrm>
          <a:prstGeom prst="rect">
            <a:avLst/>
          </a:prstGeom>
          <a:solidFill>
            <a:srgbClr val="B3BC14"/>
          </a:solidFill>
          <a:ln>
            <a:solidFill>
              <a:schemeClr val="accent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6" name="矩形 5"/>
          <p:cNvSpPr/>
          <p:nvPr/>
        </p:nvSpPr>
        <p:spPr>
          <a:xfrm>
            <a:off x="5280025" y="2620645"/>
            <a:ext cx="1685925" cy="1558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graphicFrame>
        <p:nvGraphicFramePr>
          <p:cNvPr id="34821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80025" y="2867978"/>
          <a:ext cx="16319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showAsIcon="1" r:id="rId1" imgW="971550" imgH="666750" progId="Package">
                  <p:embed/>
                </p:oleObj>
              </mc:Choice>
              <mc:Fallback>
                <p:oleObj name="" showAsIcon="1" r:id="rId1" imgW="971550" imgH="666750" progId="Packag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80025" y="2867978"/>
                        <a:ext cx="1631950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标题 12"/>
          <p:cNvSpPr/>
          <p:nvPr>
            <p:ph type="title"/>
          </p:nvPr>
        </p:nvSpPr>
        <p:spPr>
          <a:xfrm>
            <a:off x="838200" y="57467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Wireshark</a:t>
            </a:r>
            <a:r>
              <a:rPr lang="zh-CN" altLang="en-US">
                <a:sym typeface="+mn-ea"/>
              </a:rPr>
              <a:t>抓包分析</a:t>
            </a:r>
            <a:br>
              <a:rPr lang="en-US" altLang="zh-CN"/>
            </a:b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60290" y="1948815"/>
            <a:ext cx="24726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THREE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67125" y="3154045"/>
            <a:ext cx="48596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IO</a:t>
            </a:r>
            <a:r>
              <a:rPr kumimoji="1" lang="zh-CN" altLang="en-US" sz="4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多路复用模型</a:t>
            </a:r>
            <a:endParaRPr kumimoji="1" lang="zh-CN" altLang="en-US" sz="4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dirty="0"/>
              <a:t>IO</a:t>
            </a:r>
            <a:r>
              <a:rPr lang="zh-CN" altLang="en-US" dirty="0"/>
              <a:t>多路复用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850900" y="1429385"/>
            <a:ext cx="10502900" cy="4637405"/>
          </a:xfrm>
        </p:spPr>
        <p:txBody>
          <a:bodyPr wrap="square" anchor="t"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x-none" sz="24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多路复用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是一种同步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模型，实现一个线程可以监听多个文件描述符；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一旦某个文件描述符就绪，就能通知用户态程序进行相应的读写操作；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没有文件描述符就绪时，会阻塞用户态程序，交出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复用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是指一个线程处理多个文件描述符</a:t>
            </a: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常见的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多路复用模型有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select/poll/epoll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639175" y="636905"/>
            <a:ext cx="1423670" cy="67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>
                <a:solidFill>
                  <a:schemeClr val="tx1"/>
                </a:solidFill>
              </a:rPr>
              <a:t>client</a:t>
            </a:r>
            <a:endParaRPr lang="en-US" altLang="zh-CN" sz="3200" b="1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41145" y="1233805"/>
            <a:ext cx="1244600" cy="43897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server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8619490" y="1960880"/>
            <a:ext cx="1423670" cy="67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  <a:sym typeface="+mn-ea"/>
              </a:rPr>
              <a:t>client</a:t>
            </a:r>
            <a:endParaRPr lang="zh-CN" altLang="en-US" sz="2800"/>
          </a:p>
        </p:txBody>
      </p:sp>
      <p:sp>
        <p:nvSpPr>
          <p:cNvPr id="13" name="圆角矩形 12"/>
          <p:cNvSpPr/>
          <p:nvPr/>
        </p:nvSpPr>
        <p:spPr>
          <a:xfrm>
            <a:off x="8639175" y="3373755"/>
            <a:ext cx="1423670" cy="67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  <a:sym typeface="+mn-ea"/>
              </a:rPr>
              <a:t>client</a:t>
            </a:r>
            <a:endParaRPr lang="en-US" altLang="zh-CN" sz="2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619490" y="4697730"/>
            <a:ext cx="1423670" cy="676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  <a:sym typeface="+mn-ea"/>
              </a:rPr>
              <a:t>client</a:t>
            </a:r>
            <a:endParaRPr lang="en-US" altLang="zh-CN" sz="2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六边形 14"/>
          <p:cNvSpPr/>
          <p:nvPr/>
        </p:nvSpPr>
        <p:spPr>
          <a:xfrm>
            <a:off x="4921250" y="2159635"/>
            <a:ext cx="1562735" cy="1592580"/>
          </a:xfrm>
          <a:prstGeom prst="hex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kernel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cxnSp>
        <p:nvCxnSpPr>
          <p:cNvPr id="16" name="直接连接符 15"/>
          <p:cNvCxnSpPr>
            <a:endCxn id="15" idx="5"/>
          </p:cNvCxnSpPr>
          <p:nvPr/>
        </p:nvCxnSpPr>
        <p:spPr>
          <a:xfrm flipH="1">
            <a:off x="6093460" y="975360"/>
            <a:ext cx="2545715" cy="1184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2" idx="1"/>
            <a:endCxn id="15" idx="0"/>
          </p:cNvCxnSpPr>
          <p:nvPr/>
        </p:nvCxnSpPr>
        <p:spPr>
          <a:xfrm flipH="1">
            <a:off x="6483985" y="2299335"/>
            <a:ext cx="2135505" cy="656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 flipV="1">
            <a:off x="6249670" y="3373755"/>
            <a:ext cx="2389505" cy="378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4" idx="1"/>
            <a:endCxn id="15" idx="1"/>
          </p:cNvCxnSpPr>
          <p:nvPr/>
        </p:nvCxnSpPr>
        <p:spPr>
          <a:xfrm flipH="1" flipV="1">
            <a:off x="6093460" y="3752215"/>
            <a:ext cx="2526030" cy="1283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9" idx="3"/>
            <a:endCxn id="15" idx="3"/>
          </p:cNvCxnSpPr>
          <p:nvPr/>
        </p:nvCxnSpPr>
        <p:spPr>
          <a:xfrm flipV="1">
            <a:off x="2785745" y="2955925"/>
            <a:ext cx="2135505" cy="473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5" idx="2"/>
          </p:cNvCxnSpPr>
          <p:nvPr/>
        </p:nvCxnSpPr>
        <p:spPr>
          <a:xfrm rot="5400000">
            <a:off x="3576320" y="2961640"/>
            <a:ext cx="945515" cy="2525395"/>
          </a:xfrm>
          <a:prstGeom prst="bentConnector2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791585" y="1083945"/>
            <a:ext cx="34524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select/poll/epoll</a:t>
            </a:r>
            <a:endParaRPr lang="en-US" altLang="zh-CN" sz="32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100"/>
          </a:xfrm>
        </p:spPr>
        <p:txBody>
          <a:bodyPr wrap="square" anchor="ctr"/>
          <a:p>
            <a:r>
              <a:rPr lang="en-US" dirty="0"/>
              <a:t>poll</a:t>
            </a:r>
            <a:endParaRPr lang="en-US" dirty="0"/>
          </a:p>
        </p:txBody>
      </p:sp>
      <p:pic>
        <p:nvPicPr>
          <p:cNvPr id="37890" name="图片 337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685" y="465455"/>
            <a:ext cx="9907905" cy="58978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dirty="0"/>
              <a:t>poll</a:t>
            </a:r>
            <a:endParaRPr lang="en-US" dirty="0"/>
          </a:p>
        </p:txBody>
      </p:sp>
      <p:sp>
        <p:nvSpPr>
          <p:cNvPr id="38914" name="文本占位符 32770"/>
          <p:cNvSpPr>
            <a:spLocks noGrp="1"/>
          </p:cNvSpPr>
          <p:nvPr/>
        </p:nvSpPr>
        <p:spPr>
          <a:xfrm>
            <a:off x="1144905" y="1496060"/>
            <a:ext cx="9178290" cy="451548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buFont typeface="Wingdings" panose="05000000000000000000" charset="0"/>
              <a:buChar char=""/>
            </a:pPr>
            <a:r>
              <a:rPr lang="zh-CN" altLang="en-US" sz="2000" dirty="0">
                <a:latin typeface="Courier New" panose="02070309020205020404" charset="0"/>
                <a:ea typeface="宋体" panose="02010600030101010101" pitchFamily="2" charset="-122"/>
              </a:rPr>
              <a:t>函数原型</a:t>
            </a:r>
            <a:endParaRPr lang="zh-CN" altLang="en-US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 eaLnBrk="0" hangingPunct="0">
              <a:buFont typeface="Wingdings" panose="05000000000000000000" charset="0"/>
              <a:buNone/>
            </a:pPr>
            <a:r>
              <a:rPr lang="en-US" altLang="zh-CN" sz="2000" u="none" baseline="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#include &lt;poll.h&gt;</a:t>
            </a:r>
            <a:endParaRPr lang="en-US" altLang="zh-CN" sz="2000" u="none" baseline="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 eaLnBrk="0" hangingPunct="0">
              <a:buFont typeface="Wingdings" panose="05000000000000000000" charset="0"/>
              <a:buNone/>
            </a:pPr>
            <a:r>
              <a:rPr lang="en-US" altLang="zh-CN" sz="2000" u="none" baseline="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int </a:t>
            </a:r>
            <a:r>
              <a:rPr lang="en-US" altLang="zh-CN" sz="2000" u="none" baseline="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poll</a:t>
            </a:r>
            <a:r>
              <a:rPr lang="en-US" altLang="zh-CN" sz="2000" u="none" baseline="0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(struct pollfd *fds,nfds_t nfds,int timeout);</a:t>
            </a:r>
            <a:endParaRPr lang="en-US" altLang="zh-CN" sz="2000" u="none" baseline="0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struct pollfd </a:t>
            </a:r>
            <a:endParaRPr lang="en-US" altLang="zh-CN" sz="2000" dirty="0">
              <a:solidFill>
                <a:srgbClr val="FF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{</a:t>
            </a:r>
            <a:endParaRPr lang="en-US" altLang="zh-CN" sz="2000" dirty="0">
              <a:solidFill>
                <a:srgbClr val="FF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	int   fd;	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/* file descriptor */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	short events;	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/* requested events */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	short revents;	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/* returned events */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marL="342900" indent="-342900" eaLnBrk="0" hangingPunc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};</a:t>
            </a:r>
            <a:endParaRPr lang="en-US" altLang="zh-CN" sz="2000" dirty="0">
              <a:solidFill>
                <a:srgbClr val="FF0000"/>
              </a:solidFill>
              <a:latin typeface="Courier New" panose="02070309020205020404" charset="0"/>
              <a:ea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dirty="0"/>
              <a:t>epoll</a:t>
            </a:r>
            <a:endParaRPr lang="en-US" dirty="0"/>
          </a:p>
        </p:txBody>
      </p:sp>
      <p:pic>
        <p:nvPicPr>
          <p:cNvPr id="39939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0" y="365125"/>
            <a:ext cx="9258300" cy="60064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/>
        <p:txBody>
          <a:bodyPr wrap="square" anchor="ctr"/>
          <a:p>
            <a:r>
              <a:rPr lang="en-US" dirty="0"/>
              <a:t>epoll</a:t>
            </a:r>
            <a:endParaRPr lang="en-US" dirty="0"/>
          </a:p>
        </p:txBody>
      </p:sp>
      <p:sp>
        <p:nvSpPr>
          <p:cNvPr id="40961" name="Rectangle 4"/>
          <p:cNvSpPr>
            <a:spLocks noGrp="1"/>
          </p:cNvSpPr>
          <p:nvPr>
            <p:ph idx="1"/>
          </p:nvPr>
        </p:nvSpPr>
        <p:spPr>
          <a:xfrm>
            <a:off x="2262505" y="192405"/>
            <a:ext cx="9507855" cy="5978525"/>
          </a:xfrm>
        </p:spPr>
        <p:txBody>
          <a:bodyPr wrap="square" anchor="t" anchorCtr="0"/>
          <a:p>
            <a:pPr>
              <a:buFont typeface="Wingdings" panose="05000000000000000000" charset="0"/>
              <a:buChar char="Ø"/>
            </a:pPr>
            <a:r>
              <a:rPr lang="en-US" altLang="zh-CN" sz="1600" dirty="0">
                <a:latin typeface="Courier New" panose="02070309020205020404" charset="0"/>
              </a:rPr>
              <a:t>#include &lt;sys/epoll.h&gt;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1600" dirty="0">
                <a:solidFill>
                  <a:srgbClr val="D9D9D9"/>
                </a:solidFill>
                <a:latin typeface="Courier New" panose="02070309020205020404" charset="0"/>
              </a:rPr>
              <a:t>int epoll_create(int size);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 sz="1600" dirty="0">
                <a:latin typeface="Courier New" panose="02070309020205020404" charset="0"/>
              </a:rPr>
              <a:t>int 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charset="0"/>
              </a:rPr>
              <a:t>epoll_create1</a:t>
            </a:r>
            <a:r>
              <a:rPr lang="zh-CN" altLang="en-US" sz="1600" dirty="0">
                <a:latin typeface="Courier New" panose="02070309020205020404" charset="0"/>
              </a:rPr>
              <a:t>(int flags);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1600" dirty="0">
                <a:latin typeface="Courier New" panose="02070309020205020404" charset="0"/>
              </a:rPr>
              <a:t>int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charset="0"/>
              </a:rPr>
              <a:t>epoll_ctl</a:t>
            </a:r>
            <a:r>
              <a:rPr lang="en-US" altLang="zh-CN" sz="1600" dirty="0">
                <a:latin typeface="Courier New" panose="02070309020205020404" charset="0"/>
              </a:rPr>
              <a:t>(int epfd, int op, int fd, struct epoll_event *event);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1600" dirty="0">
                <a:latin typeface="Courier New" panose="02070309020205020404" charset="0"/>
              </a:rPr>
              <a:t>int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charset="0"/>
              </a:rPr>
              <a:t>epoll_wait</a:t>
            </a:r>
            <a:r>
              <a:rPr lang="en-US" altLang="zh-CN" sz="1600" dirty="0">
                <a:latin typeface="Courier New" panose="02070309020205020404" charset="0"/>
              </a:rPr>
              <a:t>(int epfd, struct epoll_event *events, int maxevents, int timeout);</a:t>
            </a:r>
            <a:endParaRPr lang="en-US" altLang="zh-CN" sz="1600" dirty="0">
              <a:latin typeface="Courier New" panose="02070309020205020404" charset="0"/>
            </a:endParaRPr>
          </a:p>
          <a:p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typedef union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charset="0"/>
              </a:rPr>
              <a:t>epoll_data</a:t>
            </a:r>
            <a:r>
              <a:rPr lang="en-US" altLang="zh-CN" sz="1600" dirty="0">
                <a:latin typeface="Courier New" panose="02070309020205020404" charset="0"/>
              </a:rPr>
              <a:t> {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void    *ptr;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int      fd;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uint32_t u32;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uint64_t u64;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} epoll_data_t;</a:t>
            </a:r>
            <a:endParaRPr lang="en-US" altLang="zh-CN" sz="1600" dirty="0">
              <a:latin typeface="Courier New" panose="02070309020205020404" charset="0"/>
            </a:endParaRPr>
          </a:p>
          <a:p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struct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charset="0"/>
              </a:rPr>
              <a:t>epoll_event</a:t>
            </a:r>
            <a:r>
              <a:rPr lang="en-US" altLang="zh-CN" sz="1600" dirty="0">
                <a:latin typeface="Courier New" panose="02070309020205020404" charset="0"/>
              </a:rPr>
              <a:t> {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uint32_t     events;	/* Epoll events */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	epoll_data_t data;	/* User data variable */</a:t>
            </a:r>
            <a:endParaRPr lang="en-US" altLang="zh-CN" sz="1600" dirty="0">
              <a:latin typeface="Courier New" panose="0207030902020502040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urier New" panose="02070309020205020404" charset="0"/>
              </a:rPr>
              <a:t>};</a:t>
            </a:r>
            <a:endParaRPr lang="zh-CN" altLang="en-US" sz="1600" dirty="0">
              <a:latin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1922780" y="0"/>
            <a:ext cx="10515600" cy="1128395"/>
          </a:xfrm>
        </p:spPr>
        <p:txBody>
          <a:bodyPr wrap="square" anchor="ctr"/>
          <a:p>
            <a:r>
              <a:rPr lang="en-US" dirty="0"/>
              <a:t>select/poll/epoll</a:t>
            </a:r>
            <a:r>
              <a:rPr lang="zh-CN" altLang="en-US" dirty="0"/>
              <a:t>对比</a:t>
            </a:r>
            <a:endParaRPr lang="zh-CN" altLang="en-US" dirty="0"/>
          </a:p>
        </p:txBody>
      </p:sp>
      <p:graphicFrame>
        <p:nvGraphicFramePr>
          <p:cNvPr id="36866" name="表格 36865"/>
          <p:cNvGraphicFramePr/>
          <p:nvPr>
            <p:custDataLst>
              <p:tags r:id="rId1"/>
            </p:custDataLst>
          </p:nvPr>
        </p:nvGraphicFramePr>
        <p:xfrm>
          <a:off x="1951324" y="878522"/>
          <a:ext cx="8305800" cy="5458777"/>
        </p:xfrm>
        <a:graphic>
          <a:graphicData uri="http://schemas.openxmlformats.org/drawingml/2006/table">
            <a:tbl>
              <a:tblPr/>
              <a:tblGrid>
                <a:gridCol w="990600"/>
                <a:gridCol w="7315200"/>
              </a:tblGrid>
              <a:tr h="400685">
                <a:tc gridSpan="2"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 algn="ctr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800" b="1">
                          <a:latin typeface="Arial" panose="020B0604020202020204" pitchFamily="34" charset="0"/>
                          <a:ea typeface="楷体_GB2312"/>
                        </a:rPr>
                        <a:t>原理</a:t>
                      </a:r>
                      <a:endParaRPr lang="zh-CN" altLang="en-US" b="1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9ACE7">
                        <a:alpha val="100000"/>
                      </a:srgbClr>
                    </a:solidFill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2433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latin typeface="Arial" panose="020B0604020202020204" pitchFamily="34" charset="0"/>
                          <a:ea typeface="楷体_GB2312"/>
                        </a:rPr>
                        <a:t>select</a:t>
                      </a:r>
                      <a:endParaRPr lang="en-US" altLang="x-none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select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本质上是通过设置或者检查存放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标志位的数据结构来进行下一步处理。这样所带来的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缺点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是：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1 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单个进程可监视的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数量被限制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2 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需要维护一个用来存放大量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的数据结构，这样会使得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用户空间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内核空间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在传递该结构时复制开销大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3 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对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socket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进行扫描时是线性扫描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endParaRPr lang="en-US" altLang="x-none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本质上和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select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没有区别，它将用户传入的数组拷贝到内核空间，然后查询每个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对应的设备状态，如果设备就绪则在设备等待队列中加入一项并继续遍历，如果遍历完所有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后没有发现就绪设备，则挂起当前进程，直到设备就绪或者主动超时，被唤醒后它又要再次遍历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。这个过程经历了多次无谓的遍历。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它没有最大连接数的限制，原因是它是基于链表来存储的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，但是同样有一个缺点：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大量的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的数组被整体复制于用户态和内核地址空间之间，而不管这样的复制是不是有意义。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还有一个特点是“水平触发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ea typeface="楷体_GB2312"/>
                        </a:rPr>
                        <a:t>LT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”，如果报告了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后，没有被处理，那么下次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时会再次报告该</a:t>
                      </a:r>
                      <a:r>
                        <a:rPr lang="en-US" altLang="x-none" sz="1400" dirty="0">
                          <a:latin typeface="Arial" panose="020B0604020202020204" pitchFamily="34" charset="0"/>
                          <a:ea typeface="楷体_GB2312"/>
                        </a:rPr>
                        <a:t>fd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。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6012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latin typeface="Arial" panose="020B0604020202020204" pitchFamily="34" charset="0"/>
                          <a:ea typeface="楷体_GB2312"/>
                        </a:rPr>
                        <a:t>epoll</a:t>
                      </a:r>
                      <a:endParaRPr lang="en-US" altLang="x-none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strike="sngStrike" dirty="0">
                          <a:solidFill>
                            <a:srgbClr val="FFC000"/>
                          </a:solidFill>
                          <a:uFillTx/>
                          <a:latin typeface="Arial" panose="020B0604020202020204" pitchFamily="34" charset="0"/>
                          <a:ea typeface="楷体_GB2312"/>
                        </a:rPr>
                        <a:t>在前面说到的复制问题上，epoll使用mmap减少复制开销。</a:t>
                      </a:r>
                      <a:endParaRPr lang="zh-CN" altLang="en-US" sz="1400" strike="sngStrike" dirty="0">
                        <a:solidFill>
                          <a:srgbClr val="FFC000"/>
                        </a:solidFill>
                        <a:uFillTx/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边缘触发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ea typeface="楷体_GB2312"/>
                        </a:rPr>
                        <a:t>ET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， 提高了编程的复杂程度</a:t>
                      </a:r>
                      <a:endParaRPr lang="zh-CN" altLang="en-US" sz="14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还有一个特点是，epoll使用“事件”的就绪通知方式，通过epoll_ctl注册fd，一旦该fd就绪，内核就会采用类似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callback的回调机制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ea typeface="楷体_GB2312"/>
                        </a:rPr>
                        <a:t>来激活该fd，epoll_wait便可以收到通知</a:t>
                      </a:r>
                      <a:endParaRPr lang="en-US" altLang="x-none" sz="14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1922780" y="0"/>
            <a:ext cx="10515600" cy="1128395"/>
          </a:xfrm>
          <a:prstGeom prst="rect">
            <a:avLst/>
          </a:prstGeom>
        </p:spPr>
        <p:txBody>
          <a:bodyPr wrap="square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select/poll/epoll</a:t>
            </a:r>
            <a:r>
              <a:rPr lang="zh-CN" altLang="en-US" dirty="0"/>
              <a:t>对比</a:t>
            </a:r>
            <a:endParaRPr lang="zh-CN" altLang="en-US" dirty="0"/>
          </a:p>
        </p:txBody>
      </p:sp>
      <p:graphicFrame>
        <p:nvGraphicFramePr>
          <p:cNvPr id="37891" name="表格 37890"/>
          <p:cNvGraphicFramePr/>
          <p:nvPr>
            <p:custDataLst>
              <p:tags r:id="rId1"/>
            </p:custDataLst>
          </p:nvPr>
        </p:nvGraphicFramePr>
        <p:xfrm>
          <a:off x="1884680" y="1128395"/>
          <a:ext cx="8305800" cy="4881563"/>
        </p:xfrm>
        <a:graphic>
          <a:graphicData uri="http://schemas.openxmlformats.org/drawingml/2006/table">
            <a:tbl>
              <a:tblPr/>
              <a:tblGrid>
                <a:gridCol w="990600"/>
                <a:gridCol w="7315200"/>
              </a:tblGrid>
              <a:tr h="400050">
                <a:tc gridSpan="2"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 algn="ctr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>
                          <a:latin typeface="Arial" panose="020B0604020202020204" pitchFamily="34" charset="0"/>
                          <a:ea typeface="楷体_GB2312"/>
                        </a:rPr>
                        <a:t>一个进程所能打开的最大连接数</a:t>
                      </a:r>
                      <a:endParaRPr lang="zh-CN" altLang="en-US" sz="2000" b="1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9ACE7">
                        <a:alpha val="100000"/>
                      </a:srgbClr>
                    </a:solidFill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812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select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单个进程所能打开的最大连接数有FD_SETSIZE宏定义，其大小是32个整数的大小（在32位的机器上，大小就是32*32，同理64位机器上FD_SETSIZE为32*64），当然我们可以对进行修改，然后重新编译内核，但是性能可能会受到影响，这需要进一步的测试。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668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poll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poll本质上和select没有区别，但是它没有最大连接数的限制，原因是它是基于</a:t>
                      </a:r>
                      <a:r>
                        <a:rPr lang="en-US" altLang="x-none" sz="20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楷体_GB2312"/>
                        </a:rPr>
                        <a:t>链表</a:t>
                      </a: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来存储的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en-US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513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epoll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lvl="1" indent="-285750" algn="l">
                        <a:defRPr sz="2000" kern="1200"/>
                      </a:lvl2pPr>
                      <a:lvl3pPr marL="1143000" lvl="2" indent="-228600" algn="l">
                        <a:defRPr sz="18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400" kern="1200"/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latin typeface="Arial" panose="020B0604020202020204" pitchFamily="34" charset="0"/>
                          <a:ea typeface="楷体_GB2312"/>
                        </a:rPr>
                        <a:t>虽然连接数有上限，但是很大，1G内存的机器上可以打开10万左右的连接，2G内存的机器可以打开20万左右的连接</a:t>
                      </a: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/>
                        </a:rPr>
                        <a:t>(cat /proc/sys/fs/file-max) 通过命令查看</a:t>
                      </a:r>
                      <a:endParaRPr lang="zh-CN" altLang="en-US" sz="2000" dirty="0">
                        <a:latin typeface="Arial" panose="020B0604020202020204" pitchFamily="34" charset="0"/>
                        <a:ea typeface="楷体_GB2312"/>
                      </a:endParaRPr>
                    </a:p>
                    <a:p>
                      <a:pPr marL="0" lvl="0" indent="0"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000" dirty="0">
                        <a:latin typeface="Arial" panose="020B0604020202020204" pitchFamily="34" charset="0"/>
                        <a:ea typeface="楷体_GB231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048250" y="1948815"/>
            <a:ext cx="20980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FOUR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64460" y="3224530"/>
            <a:ext cx="67290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  <a:sym typeface="+mn-ea"/>
              </a:rPr>
              <a:t>五种网络</a:t>
            </a:r>
            <a:r>
              <a:rPr kumimoji="1" lang="en-US" altLang="zh-CN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  <a:sym typeface="+mn-ea"/>
              </a:rPr>
              <a:t>IO</a:t>
            </a:r>
            <a:r>
              <a:rPr kumimoji="1" lang="zh-CN" altLang="en-US" sz="5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  <a:sym typeface="+mn-ea"/>
              </a:rPr>
              <a:t>模型</a:t>
            </a:r>
            <a:endParaRPr kumimoji="1" lang="zh-CN" altLang="en-US" sz="5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/>
          </p:nvPr>
        </p:nvSpPr>
        <p:spPr>
          <a:xfrm>
            <a:off x="838200" y="803275"/>
            <a:ext cx="10515600" cy="788670"/>
          </a:xfrm>
        </p:spPr>
        <p:txBody>
          <a:bodyPr/>
          <a:p>
            <a:r>
              <a:rPr lang="zh-CN" altLang="en-US"/>
              <a:t>网络</a:t>
            </a:r>
            <a:r>
              <a:rPr lang="en-US" altLang="zh-CN"/>
              <a:t>IO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8550" y="1963420"/>
            <a:ext cx="8195945" cy="3695700"/>
          </a:xfrm>
        </p:spPr>
        <p:txBody>
          <a:bodyPr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《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Unix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网络编程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Volume1, Third Edition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》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 UNP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五种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模型</a:t>
            </a:r>
            <a:endParaRPr kumimoji="0" lang="zh-CN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阻塞式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IO</a:t>
            </a:r>
            <a:endParaRPr kumimoji="0" lang="zh-CN" altLang="en-US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非阻塞式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IO</a:t>
            </a:r>
            <a:endParaRPr kumimoji="0" lang="en-US" altLang="zh-CN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复用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(IO multiplexing)</a:t>
            </a:r>
            <a:endParaRPr kumimoji="0" lang="en-US" altLang="zh-CN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信号驱动式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IO</a:t>
            </a:r>
            <a:endParaRPr kumimoji="0" lang="zh-CN" altLang="en-US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(POSIX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aio_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系列函数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其中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前四种都是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IO</a:t>
            </a:r>
            <a:endParaRPr kumimoji="0" lang="en-US" altLang="zh-CN" sz="2400" b="0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27150" y="1322705"/>
            <a:ext cx="8611235" cy="4803140"/>
          </a:xfrm>
        </p:spPr>
        <p:txBody>
          <a:bodyPr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kumimoji="0" lang="en-US" altLang="zh-CN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vs</a:t>
            </a:r>
            <a:r>
              <a:rPr kumimoji="0" lang="zh-CN" altLang="en-US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　异步　</a:t>
            </a:r>
            <a:r>
              <a:rPr kumimoji="0" lang="en-US" altLang="zh-CN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阻塞</a:t>
            </a:r>
            <a:r>
              <a:rPr kumimoji="0" lang="en-US" altLang="zh-CN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vs  </a:t>
            </a:r>
            <a:r>
              <a:rPr kumimoji="0" lang="zh-CN" altLang="en-US" sz="32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非阻塞</a:t>
            </a:r>
            <a:endParaRPr kumimoji="0" lang="zh-CN" altLang="en-US" sz="3200" b="1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endParaRPr kumimoji="0" lang="zh-CN" altLang="en-US" sz="3200" b="1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误解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同步就是阻塞，异步就是非阻塞</a:t>
            </a:r>
            <a:endParaRPr kumimoji="0" lang="zh-CN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endParaRPr kumimoji="0" lang="zh-CN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98500"/>
            <a:ext cx="10515600" cy="1325563"/>
          </a:xfrm>
        </p:spPr>
        <p:txBody>
          <a:bodyPr/>
          <a:p>
            <a:r>
              <a:rPr lang="zh-CN" altLang="en-US"/>
              <a:t>举例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17588" y="1468438"/>
            <a:ext cx="7108825" cy="4637088"/>
          </a:xfrm>
        </p:spPr>
        <p:txBody>
          <a:bodyPr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用户态　内核态</a:t>
            </a:r>
            <a:endParaRPr kumimoji="0" lang="zh-CN" altLang="en-US" sz="2800" b="1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一个网络数据输入操作包括两个不同的阶段：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 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等待数据准备好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b. 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从内核向用户态复制数据</a:t>
            </a:r>
            <a:endParaRPr kumimoji="0" lang="zh-CN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73215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阻塞式I/O模型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4710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8250" y="2058035"/>
            <a:ext cx="8477250" cy="4403725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4452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非阻塞式I/O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48130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4545" y="1520825"/>
            <a:ext cx="7756525" cy="4850765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7373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I/O多路复用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49154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50770" y="1817688"/>
            <a:ext cx="7075488" cy="4552950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56590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信号驱动式I/O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50178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4505" y="1982470"/>
            <a:ext cx="7875905" cy="4406900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2420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异步I/O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51202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4600" y="1654810"/>
            <a:ext cx="9288780" cy="4722495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8389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  <a:sym typeface="+mn-ea"/>
              </a:rPr>
              <a:t>比较结果</a:t>
            </a:r>
            <a:br>
              <a:rPr lang="zh-CN" altLang="en-US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5222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355" y="2166620"/>
            <a:ext cx="9060815" cy="432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文本框 2"/>
          <p:cNvSpPr txBox="1"/>
          <p:nvPr/>
        </p:nvSpPr>
        <p:spPr>
          <a:xfrm>
            <a:off x="3574733" y="1691005"/>
            <a:ext cx="39147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buNone/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前四种都是同步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41350"/>
            <a:ext cx="10515600" cy="1325563"/>
          </a:xfrm>
        </p:spPr>
        <p:txBody>
          <a:bodyPr/>
          <a:p>
            <a:r>
              <a:rPr lang="zh-CN" altLang="zh-CN">
                <a:solidFill>
                  <a:srgbClr val="FF0000"/>
                </a:solidFill>
                <a:sym typeface="+mn-ea"/>
              </a:rPr>
              <a:t>总结</a:t>
            </a:r>
            <a:br>
              <a:rPr lang="zh-CN" altLang="zh-CN">
                <a:solidFill>
                  <a:srgbClr val="FF0000"/>
                </a:solidFill>
              </a:rPr>
            </a:br>
            <a:endParaRPr lang="zh-CN" altLang="en-US"/>
          </a:p>
        </p:txBody>
      </p:sp>
      <p:sp>
        <p:nvSpPr>
          <p:cNvPr id="6" name="内容占位符 4"/>
          <p:cNvSpPr>
            <a:spLocks noGrp="1"/>
          </p:cNvSpPr>
          <p:nvPr/>
        </p:nvSpPr>
        <p:spPr>
          <a:xfrm>
            <a:off x="445770" y="1342390"/>
            <a:ext cx="11322685" cy="478345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Font typeface="Wingdings" panose="05000000000000000000" charset="0"/>
              <a:buNone/>
            </a:pPr>
            <a:r>
              <a:rPr lang="zh-CN" altLang="en-US" sz="32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同步　异步　阻塞　非阻塞</a:t>
            </a:r>
            <a:endParaRPr lang="zh-CN" altLang="en-US" sz="3200" b="1" strike="noStrike" noProof="1">
              <a:solidFill>
                <a:schemeClr val="tx1"/>
              </a:solidFill>
            </a:endParaRPr>
          </a:p>
          <a:p>
            <a:pPr fontAlgn="base">
              <a:buFont typeface="Wingdings" panose="05000000000000000000" charset="0"/>
              <a:buChar char="u"/>
            </a:pPr>
            <a:endParaRPr lang="zh-CN" altLang="zh-CN" strike="noStrike" noProof="1"/>
          </a:p>
          <a:p>
            <a:pPr fontAlgn="base">
              <a:buFont typeface="Wingdings" panose="05000000000000000000" charset="0"/>
              <a:buChar char=""/>
            </a:pPr>
            <a:r>
              <a:rPr lang="zh-CN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阻塞</a:t>
            </a:r>
            <a:r>
              <a:rPr lang="en-US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非阻塞</a:t>
            </a:r>
            <a:r>
              <a:rPr lang="zh-CN" altLang="zh-CN" strike="noStrike" noProof="1">
                <a:latin typeface="+mn-lt"/>
                <a:ea typeface="+mn-ea"/>
                <a:cs typeface="+mn-cs"/>
              </a:rPr>
              <a:t>：</a:t>
            </a:r>
            <a:endParaRPr lang="zh-CN" altLang="zh-CN" strike="noStrike" noProof="1"/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关注的是用户态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进程/线程</a:t>
            </a:r>
            <a:r>
              <a:rPr lang="en-US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程序</a:t>
            </a:r>
            <a:r>
              <a:rPr lang="en-US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的状态</a:t>
            </a:r>
            <a:endParaRPr lang="zh-CN" altLang="zh-CN" sz="2000" strike="noStrike" noProof="1">
              <a:solidFill>
                <a:srgbClr val="FF0000"/>
              </a:solidFill>
            </a:endParaRPr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其要访问的数据是否就绪，进程/线程是否需要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等待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；</a:t>
            </a:r>
            <a:endParaRPr lang="zh-CN" altLang="zh-CN" sz="2000" strike="noStrike" noProof="1"/>
          </a:p>
          <a:p>
            <a:pPr fontAlgn="base">
              <a:buFont typeface="Wingdings" panose="05000000000000000000" charset="0"/>
              <a:buChar char=""/>
            </a:pPr>
            <a:r>
              <a:rPr lang="zh-CN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lang="en-US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zh-CN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</a:t>
            </a:r>
            <a:r>
              <a:rPr lang="zh-CN" altLang="zh-CN" strike="noStrike" noProof="1">
                <a:latin typeface="+mn-lt"/>
                <a:ea typeface="+mn-ea"/>
                <a:cs typeface="+mn-cs"/>
              </a:rPr>
              <a:t>：</a:t>
            </a:r>
            <a:endParaRPr lang="zh-CN" altLang="zh-CN" strike="noStrike" noProof="1"/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关注的是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消息通信机制　　</a:t>
            </a:r>
            <a:r>
              <a:rPr lang="en-US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--   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内核与应用程序的交互　</a:t>
            </a:r>
            <a:endParaRPr lang="zh-CN" altLang="zh-CN" sz="2000" strike="noStrike" noProof="1">
              <a:solidFill>
                <a:srgbClr val="FF0000"/>
              </a:solidFill>
            </a:endParaRPr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访问数据的方式，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同步需要主动读写数据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，在读写数据的过程中还是会阻塞；</a:t>
            </a:r>
            <a:endParaRPr lang="zh-CN" altLang="zh-CN" sz="2000" strike="noStrike" noProof="1"/>
          </a:p>
          <a:p>
            <a:pPr lvl="1" fontAlgn="base">
              <a:buFont typeface="Wingdings" panose="05000000000000000000" charset="0"/>
              <a:buChar char=""/>
            </a:pP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只需要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关注I/O操作完成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的通知，</a:t>
            </a:r>
            <a:r>
              <a:rPr lang="zh-CN" altLang="zh-CN" sz="2000" strike="noStrike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并不主动读写数据</a:t>
            </a:r>
            <a:r>
              <a:rPr lang="zh-CN" altLang="zh-CN" sz="2000" strike="noStrike" noProof="1">
                <a:latin typeface="+mn-lt"/>
                <a:ea typeface="+mn-ea"/>
                <a:cs typeface="+mn-cs"/>
              </a:rPr>
              <a:t>，由操作系统内核完成数据的读写。</a:t>
            </a:r>
            <a:endParaRPr lang="zh-CN" altLang="zh-CN" sz="2000" strike="noStrike" noProof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793750"/>
            <a:ext cx="10515600" cy="688975"/>
          </a:xfrm>
        </p:spPr>
        <p:txBody>
          <a:bodyPr/>
          <a:p>
            <a:r>
              <a:rPr lang="zh-CN" altLang="zh-CN">
                <a:sym typeface="+mn-ea"/>
              </a:rPr>
              <a:t>举个例子</a:t>
            </a:r>
            <a:br>
              <a:rPr lang="zh-CN" altLang="zh-CN"/>
            </a:b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04165" y="1549400"/>
            <a:ext cx="11207750" cy="4637405"/>
          </a:xfrm>
        </p:spPr>
        <p:txBody>
          <a:bodyPr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场景：风华去新华书店买《王道机试指南》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如果新华书店没有，就一直等着书店有了书之后才走。 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同步阻塞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如果新华书店没有，先离开书店；然后每天都去书店逛一次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，直到书店到货了，买了就走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同步非阻塞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如果新华书店没有，留下电话号码；书店有货时，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老板打电话通知他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，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他再去书店买书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信号驱动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IO </a:t>
            </a:r>
            <a:r>
              <a:rPr kumimoji="0" lang="zh-CN" altLang="zh-CN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非阻塞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如果新华书店没有，留下地址；书店有货时，老板直接把书 送到家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异步非阻塞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kumimoji="0" lang="en-US" altLang="zh-CN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对应于程序：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用户进程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调用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系统调用</a:t>
            </a:r>
            <a:endParaRPr kumimoji="0" lang="zh-CN" altLang="en-US" sz="2400" b="0" i="0" u="none" strike="noStrike" kern="1200" cap="none" spc="0" normalizeH="0" baseline="0" noProof="1">
              <a:solidFill>
                <a:srgbClr val="0000FF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用户进程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对应风华，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内核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对应书店老板，书对应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数据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 买书就是一个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系统调用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，而内核拷贝数据到进程这个过程近似于老板送书到风华手中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dist">
              <a:buClrTx/>
              <a:buSzTx/>
              <a:buFontTx/>
            </a:pPr>
            <a:r>
              <a:rPr kumimoji="1" lang="zh-CN" altLang="en-US" sz="4400" b="1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  <a:sym typeface="+mn-ea"/>
              </a:rPr>
              <a:t>常见并发服务器方案</a:t>
            </a:r>
            <a:endParaRPr kumimoji="1" lang="zh-CN" altLang="en-US" sz="4400" b="1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32705" y="1948815"/>
            <a:ext cx="1929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FIVE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726940" y="2778760"/>
            <a:ext cx="27381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20184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zh-CN" altLang="x-none" dirty="0">
                <a:solidFill>
                  <a:schemeClr val="tx1"/>
                </a:solidFill>
                <a:sym typeface="+mn-ea"/>
              </a:rPr>
              <a:t>常见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并发服务器方案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5298" name="Rectangle 4"/>
          <p:cNvSpPr>
            <a:spLocks noGrp="1"/>
          </p:cNvSpPr>
          <p:nvPr/>
        </p:nvSpPr>
        <p:spPr>
          <a:xfrm>
            <a:off x="655955" y="1448435"/>
            <a:ext cx="9744075" cy="44608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、循环式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迭代式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iterative )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无法充分利用多核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，不适合执行时间较长的服务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、并发式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(concurrent)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one connection per process/one connection per thread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适合执行时间比较长的服务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 err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prefork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or pre threaded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UNP2e 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章）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反应器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 reactive )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 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(reactor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模式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0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并发处理多个请求，实际上是在一个线程中完成。无法充分利用多核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不适合执行时间比较长的服务，所以为了让客户感觉是在“并发”处理而不是“循环”处理，每个请求必须在相对较短时间内执行。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 + thread per request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（过渡方案）</a:t>
            </a:r>
            <a:endParaRPr lang="en-US" altLang="zh-CN" sz="2000" b="1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 + worker thread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（过渡方案）</a:t>
            </a:r>
            <a:endParaRPr lang="en-US" altLang="zh-CN" sz="2000" b="1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6321" name="Rectangle 4"/>
          <p:cNvSpPr>
            <a:spLocks noGrp="1"/>
          </p:cNvSpPr>
          <p:nvPr/>
        </p:nvSpPr>
        <p:spPr>
          <a:xfrm>
            <a:off x="818515" y="909955"/>
            <a:ext cx="9672320" cy="51911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 + thread pool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（能适应密集计算）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multiple reactors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（能适应更大的突发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reactors in threads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one loop per thread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reactors in processes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multiple reactors + thread pool</a:t>
            </a:r>
            <a:endParaRPr lang="en-US" altLang="zh-CN" sz="2000" b="1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　（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one loop per thread + </a:t>
            </a:r>
            <a:r>
              <a:rPr lang="en-US" altLang="zh-CN" sz="2000" b="1" err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threadpool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）（突发</a:t>
            </a: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与密集计算）</a:t>
            </a:r>
            <a:endParaRPr lang="zh-CN" altLang="en-US" sz="2000" b="1" dirty="0">
              <a:solidFill>
                <a:srgbClr val="33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sz="2000" b="1" dirty="0">
                <a:solidFill>
                  <a:srgbClr val="33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proactor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zh-CN" sz="20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前摄器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模式、主动器模式，基于异步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I/O)</a:t>
            </a:r>
            <a:endParaRPr lang="en-US" altLang="zh-CN" sz="2000" b="1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理论上</a:t>
            </a:r>
            <a:r>
              <a:rPr lang="en-US" altLang="zh-CN" sz="18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proactor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比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reactor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效率要高一些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异步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能够让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操作与计算重叠。充分利用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DMA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特性。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Linux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异步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glibc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aio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aio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_*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），有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bug</a:t>
            </a:r>
            <a:r>
              <a:rPr lang="zh-CN" altLang="en-US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，基本上不用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kernel native </a:t>
            </a: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aio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_*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），也不完美。目前仅支持 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O_DIRECT 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方式来对磁盘读写，跳过系统缓存。要自已实现缓存，难度不小。</a:t>
            </a:r>
            <a:endParaRPr lang="zh-CN" altLang="en-US" sz="16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boost.</a:t>
            </a:r>
            <a:r>
              <a:rPr lang="en-US" altLang="zh-CN" sz="1800" b="1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asio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实现的</a:t>
            </a:r>
            <a:r>
              <a:rPr lang="en-US" altLang="zh-CN" sz="18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proactor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，实际上不是真正意义上的异步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，底层是用</a:t>
            </a:r>
            <a:r>
              <a:rPr lang="en-US" altLang="zh-CN" sz="1800" err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epoll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来实现的，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模拟异步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4273" name="标题 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en-US" altLang="zh-CN">
                <a:solidFill>
                  <a:srgbClr val="FF0000"/>
                </a:solidFill>
              </a:rPr>
              <a:t>R</a:t>
            </a:r>
            <a:r>
              <a:rPr lang="en-US" altLang="zh-CN">
                <a:solidFill>
                  <a:srgbClr val="FF0000"/>
                </a:solidFill>
              </a:rPr>
              <a:t>eactor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7346" name="内容占位符 4"/>
          <p:cNvSpPr>
            <a:spLocks noGrp="1"/>
          </p:cNvSpPr>
          <p:nvPr>
            <p:ph idx="1"/>
          </p:nvPr>
        </p:nvSpPr>
        <p:spPr>
          <a:xfrm>
            <a:off x="781685" y="1691005"/>
            <a:ext cx="9236075" cy="3999865"/>
          </a:xfrm>
        </p:spPr>
        <p:txBody>
          <a:bodyPr anchor="t" anchorCtr="0"/>
          <a:p>
            <a:pPr>
              <a:buFont typeface="Wingdings" panose="05000000000000000000" charset="0"/>
              <a:buChar char=""/>
            </a:pPr>
            <a:r>
              <a:rPr lang="zh-CN" altLang="en-US"/>
              <a:t>Reactor模式，又叫反应器模式，应用于同步I/O的场景。以读操作为例来看看Reactor中的具体步骤：</a:t>
            </a:r>
            <a:endParaRPr lang="zh-CN" altLang="en-US"/>
          </a:p>
          <a:p>
            <a:pPr>
              <a:buFont typeface="Wingdings" panose="05000000000000000000" charset="0"/>
              <a:buChar char=""/>
            </a:pPr>
            <a:r>
              <a:rPr lang="zh-CN" altLang="en-US"/>
              <a:t>读取操作：</a:t>
            </a:r>
            <a:endParaRPr lang="zh-CN" altLang="en-US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1. 应用程序注册</a:t>
            </a:r>
            <a:r>
              <a:rPr lang="zh-CN" altLang="en-US" sz="2000">
                <a:solidFill>
                  <a:srgbClr val="FF0000"/>
                </a:solidFill>
              </a:rPr>
              <a:t>读就绪事件</a:t>
            </a:r>
            <a:r>
              <a:rPr lang="zh-CN" altLang="en-US" sz="2000"/>
              <a:t>和相关联的</a:t>
            </a:r>
            <a:r>
              <a:rPr lang="zh-CN" altLang="en-US" sz="2000">
                <a:solidFill>
                  <a:srgbClr val="FF0000"/>
                </a:solidFill>
              </a:rPr>
              <a:t>事件处理器</a:t>
            </a:r>
            <a:endParaRPr lang="zh-CN" altLang="en-US" sz="2000">
              <a:solidFill>
                <a:srgbClr val="FF0000"/>
              </a:solidFill>
            </a:endParaRPr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2. </a:t>
            </a:r>
            <a:r>
              <a:rPr lang="zh-CN" altLang="en-US" sz="2000">
                <a:solidFill>
                  <a:srgbClr val="FF0000"/>
                </a:solidFill>
              </a:rPr>
              <a:t>事件分离器</a:t>
            </a:r>
            <a:r>
              <a:rPr lang="zh-CN" altLang="en-US" sz="2000"/>
              <a:t>等待事件的发生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3. 当发生</a:t>
            </a:r>
            <a:r>
              <a:rPr lang="zh-CN" altLang="en-US" sz="2000">
                <a:solidFill>
                  <a:srgbClr val="FF0000"/>
                </a:solidFill>
              </a:rPr>
              <a:t>读就绪事件</a:t>
            </a:r>
            <a:r>
              <a:rPr lang="zh-CN" altLang="en-US" sz="2000"/>
              <a:t>的时候，事件分离器调用第一步注册的事件处理器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4. 事件处理器首先执行实际的读取操作，然后根据读取到的内容进行进一步的处理</a:t>
            </a:r>
            <a:endParaRPr lang="zh-CN" altLang="en-US"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6321" name="标题 3"/>
          <p:cNvSpPr>
            <a:spLocks noGrp="1"/>
          </p:cNvSpPr>
          <p:nvPr>
            <p:ph type="title"/>
          </p:nvPr>
        </p:nvSpPr>
        <p:spPr>
          <a:xfrm>
            <a:off x="837565" y="285115"/>
            <a:ext cx="10515600" cy="1325563"/>
          </a:xfrm>
        </p:spPr>
        <p:txBody>
          <a:bodyPr anchor="ctr"/>
          <a:p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</a:rPr>
              <a:t>roactor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8370" name="内容占位符 4"/>
          <p:cNvSpPr>
            <a:spLocks noGrp="1"/>
          </p:cNvSpPr>
          <p:nvPr>
            <p:ph idx="1"/>
          </p:nvPr>
        </p:nvSpPr>
        <p:spPr>
          <a:xfrm>
            <a:off x="868045" y="1458595"/>
            <a:ext cx="9701530" cy="4636770"/>
          </a:xfrm>
        </p:spPr>
        <p:txBody>
          <a:bodyPr anchor="t" anchorCtr="0"/>
          <a:p>
            <a:pPr>
              <a:buFont typeface="Wingdings" panose="05000000000000000000" charset="0"/>
              <a:buChar char=""/>
            </a:pPr>
            <a:r>
              <a:rPr lang="zh-CN" altLang="en-US"/>
              <a:t>Proactor</a:t>
            </a:r>
            <a:r>
              <a:rPr lang="en-US" altLang="zh-CN"/>
              <a:t>(</a:t>
            </a:r>
            <a:r>
              <a:rPr lang="zh-CN" altLang="en-US"/>
              <a:t>主动器</a:t>
            </a:r>
            <a:r>
              <a:rPr lang="en-US" altLang="zh-CN"/>
              <a:t>/</a:t>
            </a:r>
            <a:r>
              <a:rPr lang="zh-CN" altLang="en-US"/>
              <a:t>前摄器</a:t>
            </a:r>
            <a:r>
              <a:rPr lang="en-US" altLang="zh-CN"/>
              <a:t>)</a:t>
            </a:r>
            <a:r>
              <a:rPr lang="zh-CN" altLang="en-US"/>
              <a:t>模式中读取操作过程：</a:t>
            </a:r>
            <a:endParaRPr lang="zh-CN" altLang="en-US"/>
          </a:p>
          <a:p>
            <a:pPr>
              <a:buFont typeface="Wingdings" panose="05000000000000000000" charset="0"/>
              <a:buChar char=""/>
            </a:pPr>
            <a:r>
              <a:rPr lang="zh-CN" altLang="en-US"/>
              <a:t>读取操作：</a:t>
            </a:r>
            <a:endParaRPr lang="zh-CN" altLang="en-US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1. 应用程序初始化一个异步读取操作，然后注册相应的</a:t>
            </a:r>
            <a:r>
              <a:rPr lang="zh-CN" altLang="en-US" sz="2000">
                <a:solidFill>
                  <a:srgbClr val="FF0000"/>
                </a:solidFill>
              </a:rPr>
              <a:t>事件处理器</a:t>
            </a:r>
            <a:r>
              <a:rPr lang="zh-CN" altLang="en-US" sz="2000"/>
              <a:t>，此时</a:t>
            </a:r>
            <a:r>
              <a:rPr lang="zh-CN" altLang="en-US" sz="2000">
                <a:solidFill>
                  <a:srgbClr val="FF0000"/>
                </a:solidFill>
              </a:rPr>
              <a:t>事件处理器</a:t>
            </a:r>
            <a:r>
              <a:rPr lang="zh-CN" altLang="en-US" sz="2000"/>
              <a:t>不关注读取就绪事件，而是</a:t>
            </a:r>
            <a:r>
              <a:rPr lang="zh-CN" altLang="en-US" sz="2000">
                <a:solidFill>
                  <a:srgbClr val="FF0000"/>
                </a:solidFill>
              </a:rPr>
              <a:t>关注读取完成事件</a:t>
            </a:r>
            <a:r>
              <a:rPr lang="zh-CN" altLang="en-US" sz="2000"/>
              <a:t>，这是区别于Reactor的关键。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2. </a:t>
            </a:r>
            <a:r>
              <a:rPr lang="zh-CN" altLang="en-US" sz="2000">
                <a:solidFill>
                  <a:srgbClr val="FF0000"/>
                </a:solidFill>
              </a:rPr>
              <a:t>事件分离器</a:t>
            </a:r>
            <a:r>
              <a:rPr lang="zh-CN" altLang="en-US" sz="2000"/>
              <a:t>等待读取操作完成事件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3. 在事件分离器等待读取操作完成的时候，操作系统调用内核线程完成读取操作，并将读取的内容放入用户传递过来的缓冲区中。这也是区别于Reactor的一点，Proactor中，应用程序需要传递缓冲区。</a:t>
            </a:r>
            <a:endParaRPr lang="zh-CN" altLang="en-US" sz="200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sz="2000"/>
              <a:t>4. 事件分离器捕获到读取完成事件后，激活应用程序注册的事件处理器，事件处理器直接从缓存区处理数据，而不需要进行实际的读取操作。</a:t>
            </a:r>
            <a:endParaRPr lang="zh-CN" altLang="en-US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/>
          <a:p>
            <a:r>
              <a:rPr lang="en-US" altLang="zh-CN">
                <a:solidFill>
                  <a:srgbClr val="FF0000"/>
                </a:solidFill>
                <a:sym typeface="+mn-ea"/>
              </a:rPr>
              <a:t>Reactor</a:t>
            </a:r>
            <a:r>
              <a:rPr lang="zh-CN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vs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Proactor</a:t>
            </a:r>
            <a:endParaRPr lang="zh-CN" altLang="zh-CN" dirty="0"/>
          </a:p>
        </p:txBody>
      </p:sp>
      <p:sp>
        <p:nvSpPr>
          <p:cNvPr id="55298" name="内容占位符 4"/>
          <p:cNvSpPr>
            <a:spLocks noGrp="1"/>
          </p:cNvSpPr>
          <p:nvPr>
            <p:ph idx="1"/>
          </p:nvPr>
        </p:nvSpPr>
        <p:spPr>
          <a:xfrm>
            <a:off x="876300" y="1691005"/>
            <a:ext cx="9360535" cy="3413125"/>
          </a:xfrm>
        </p:spPr>
        <p:txBody>
          <a:bodyPr anchor="t"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Proactor 感兴趣的事件是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读写完成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事件。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Reactor和Proactor模式的主要区别：真正的读取和写入操作是由谁来完成的：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Reactor中需要应用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kumimoji="0" lang="zh-CN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用户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程序自己读取或者写入数据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Proactor模式中，应用程序不需要进行实际的读写过程，它只需要从缓存区读取或者写入即可，内核会读取缓存区或者写入缓存区到真正的IO设备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"/>
            </a:pP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综上所述，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同步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异步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是相对于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应用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内核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的交互方式而言的，同步需要主动去询问，而异步的时候内核在IO事件发生的时候通知应用程序，而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阻塞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非阻塞</a:t>
            </a:r>
            <a:r>
              <a:rPr kumimoji="0" lang="zh-CN" altLang="en-US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仅仅是系统在调用系统调用的时候函数的实现方式而已。</a:t>
            </a:r>
            <a:endParaRPr kumimoji="0" lang="zh-CN" altLang="en-US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56166" y="601769"/>
            <a:ext cx="10879668" cy="56176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81000" y="623760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22427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21982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60418" name="内容占位符 17818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23765" y="657225"/>
            <a:ext cx="2043430" cy="5281930"/>
          </a:xfrm>
        </p:spPr>
      </p:pic>
      <p:sp>
        <p:nvSpPr>
          <p:cNvPr id="2" name="标题 1"/>
          <p:cNvSpPr/>
          <p:nvPr>
            <p:ph type="title"/>
          </p:nvPr>
        </p:nvSpPr>
        <p:spPr>
          <a:xfrm>
            <a:off x="838200" y="608330"/>
            <a:ext cx="10515600" cy="733425"/>
          </a:xfrm>
        </p:spPr>
        <p:txBody>
          <a:bodyPr/>
          <a:p>
            <a:r>
              <a:rPr lang="en-US" altLang="zh-CN">
                <a:sym typeface="+mn-ea"/>
              </a:rPr>
              <a:t>iterative</a:t>
            </a:r>
            <a:r>
              <a:rPr lang="zh-CN" altLang="en-US" dirty="0">
                <a:sym typeface="+mn-ea"/>
              </a:rPr>
              <a:t>服务器</a:t>
            </a:r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365125"/>
            <a:ext cx="10515600" cy="799465"/>
          </a:xfrm>
        </p:spPr>
        <p:txBody>
          <a:bodyPr/>
          <a:p>
            <a:r>
              <a:rPr lang="en-US" altLang="zh-CN">
                <a:sym typeface="+mn-ea"/>
              </a:rPr>
              <a:t>concurrent</a:t>
            </a:r>
            <a:r>
              <a:rPr lang="zh-CN" altLang="en-US" dirty="0">
                <a:sym typeface="+mn-ea"/>
              </a:rPr>
              <a:t>服务器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61442" name="内容占位符 17920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5630" y="1188720"/>
            <a:ext cx="6628765" cy="5118735"/>
          </a:xfrm>
        </p:spPr>
      </p:pic>
      <p:pic>
        <p:nvPicPr>
          <p:cNvPr id="61443" name="图片 1792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990" y="952500"/>
            <a:ext cx="2944495" cy="53524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 err="1">
                <a:sym typeface="+mn-ea"/>
              </a:rPr>
              <a:t>prefork</a:t>
            </a:r>
            <a:r>
              <a:rPr lang="zh-CN" altLang="en-US" dirty="0">
                <a:sym typeface="+mn-ea"/>
              </a:rPr>
              <a:t>服务器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62466" name="内容占位符 180229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8310" y="1681480"/>
            <a:ext cx="6254115" cy="4641215"/>
          </a:xfrm>
        </p:spPr>
      </p:pic>
      <p:pic>
        <p:nvPicPr>
          <p:cNvPr id="62467" name="图片 1802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0" y="598805"/>
            <a:ext cx="3238500" cy="5723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sym typeface="+mn-ea"/>
              </a:rPr>
              <a:t>Basic Reactor</a:t>
            </a:r>
            <a:br>
              <a:rPr lang="en-US" altLang="zh-CN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63490" name="内容占位符 17408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5665" y="1054100"/>
            <a:ext cx="9549130" cy="5113020"/>
          </a:xfr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 err="1">
                <a:solidFill>
                  <a:srgbClr val="FF0000"/>
                </a:solidFill>
                <a:sym typeface="+mn-ea"/>
              </a:rPr>
              <a:t>Reactor +</a:t>
            </a:r>
            <a:r>
              <a:rPr lang="zh-CN" altLang="zh-CN" err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err="1">
                <a:solidFill>
                  <a:srgbClr val="FF0000"/>
                </a:solidFill>
                <a:sym typeface="+mn-ea"/>
              </a:rPr>
              <a:t>Threadpool</a:t>
            </a:r>
            <a:br>
              <a:rPr lang="en-US" altLang="zh-CN" err="1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64514" name="内容占位符 17510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1510" y="1158240"/>
            <a:ext cx="10697845" cy="5534025"/>
          </a:xfrm>
          <a:ln w="25400"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sym typeface="+mn-ea"/>
              </a:rPr>
              <a:t>Multiple </a:t>
            </a:r>
            <a:r>
              <a:rPr lang="en-US" altLang="zh-CN" err="1">
                <a:solidFill>
                  <a:srgbClr val="FF0000"/>
                </a:solidFill>
                <a:sym typeface="+mn-ea"/>
              </a:rPr>
              <a:t>reactors + Threadpool</a:t>
            </a:r>
            <a:br>
              <a:rPr lang="en-US" altLang="zh-CN" err="1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66562" name="内容占位符 17715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6290" y="1189355"/>
            <a:ext cx="10325100" cy="5245100"/>
          </a:xfrm>
          <a:ln w="25400"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sym typeface="+mn-ea"/>
              </a:rPr>
              <a:t>Multiple Reactors</a:t>
            </a:r>
            <a:br>
              <a:rPr lang="en-US" altLang="zh-CN">
                <a:solidFill>
                  <a:srgbClr val="FF0000"/>
                </a:solidFill>
              </a:rPr>
            </a:br>
            <a:endParaRPr lang="zh-CN" altLang="en-US"/>
          </a:p>
        </p:txBody>
      </p:sp>
      <p:pic>
        <p:nvPicPr>
          <p:cNvPr id="65538" name="内容占位符 17613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8515" y="1218565"/>
            <a:ext cx="10304145" cy="5162550"/>
          </a:xfr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563880"/>
            <a:ext cx="10515600" cy="709295"/>
          </a:xfrm>
        </p:spPr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pic>
        <p:nvPicPr>
          <p:cNvPr id="67585" name="图片 16794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4200" y="1252855"/>
            <a:ext cx="11111865" cy="4970780"/>
          </a:xfr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1414780"/>
            <a:ext cx="7639685" cy="40284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17820" y="1948815"/>
            <a:ext cx="13582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4800" b="1" spc="-150" dirty="0">
                <a:solidFill>
                  <a:schemeClr val="bg1"/>
                </a:solidFill>
                <a:latin typeface="Lantinghei SC Demibold" panose="02000000000000000000" charset="-122"/>
                <a:ea typeface="Lantinghei SC Demibold" panose="02000000000000000000" charset="-122"/>
              </a:rPr>
              <a:t>SIX</a:t>
            </a:r>
            <a:endParaRPr kumimoji="1" lang="en-US" altLang="zh-CN" sz="4800" b="1" spc="-150" dirty="0">
              <a:solidFill>
                <a:schemeClr val="bg1"/>
              </a:solidFill>
              <a:latin typeface="Lantinghei SC Demibold" panose="02000000000000000000" charset="-122"/>
              <a:ea typeface="Lantinghei SC Demibold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80715" y="3140075"/>
            <a:ext cx="55479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Reactor</a:t>
            </a:r>
            <a:r>
              <a:rPr kumimoji="1"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模型封装</a:t>
            </a:r>
            <a:endParaRPr kumimoji="1"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072380" y="2778760"/>
            <a:ext cx="20491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869950"/>
            <a:ext cx="10515600" cy="1325563"/>
          </a:xfrm>
        </p:spPr>
        <p:txBody>
          <a:bodyPr/>
          <a:p>
            <a:r>
              <a:rPr lang="en-US" altLang="zh-CN"/>
              <a:t>Reactor</a:t>
            </a:r>
            <a:r>
              <a:rPr lang="zh-CN" altLang="en-US"/>
              <a:t>实现</a:t>
            </a:r>
            <a:endParaRPr lang="zh-CN" altLang="en-US"/>
          </a:p>
        </p:txBody>
      </p:sp>
      <p:sp>
        <p:nvSpPr>
          <p:cNvPr id="68610" name="内容占位符 2"/>
          <p:cNvSpPr>
            <a:spLocks noGrp="1"/>
          </p:cNvSpPr>
          <p:nvPr>
            <p:ph idx="1"/>
          </p:nvPr>
        </p:nvSpPr>
        <p:spPr>
          <a:xfrm>
            <a:off x="1687195" y="1943100"/>
            <a:ext cx="7108825" cy="3686175"/>
          </a:xfrm>
        </p:spPr>
        <p:txBody>
          <a:bodyPr wrap="square" anchor="t" anchorCtr="0"/>
          <a:p>
            <a:pPr>
              <a:buFont typeface="Wingdings" panose="05000000000000000000" charset="0"/>
              <a:buChar char=""/>
            </a:pPr>
            <a:r>
              <a:rPr lang="zh-CN" altLang="x-none" dirty="0"/>
              <a:t>实现</a:t>
            </a:r>
            <a:endParaRPr lang="zh-CN" altLang="x-none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InetAddress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Socket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SocketIO</a:t>
            </a:r>
            <a:r>
              <a:rPr lang="zh-CN" altLang="en-US" dirty="0"/>
              <a:t>类</a:t>
            </a:r>
            <a:endParaRPr lang="zh-CN" altLang="en-US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Acceptor</a:t>
            </a:r>
            <a:r>
              <a:rPr lang="zh-CN" altLang="zh-CN" dirty="0"/>
              <a:t>类</a:t>
            </a:r>
            <a:endParaRPr lang="zh-CN" altLang="zh-CN" dirty="0"/>
          </a:p>
          <a:p>
            <a:pPr lvl="1">
              <a:buFont typeface="Wingdings" panose="05000000000000000000" charset="0"/>
              <a:buChar char=""/>
            </a:pPr>
            <a:r>
              <a:rPr lang="zh-CN" altLang="en-US" dirty="0"/>
              <a:t>TcpConnection类</a:t>
            </a:r>
            <a:endParaRPr lang="zh-CN" altLang="en-US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EventLoop</a:t>
            </a:r>
            <a:r>
              <a:rPr lang="zh-CN" altLang="zh-CN" dirty="0"/>
              <a:t>类</a:t>
            </a:r>
            <a:endParaRPr lang="zh-CN" altLang="zh-CN" dirty="0"/>
          </a:p>
          <a:p>
            <a:pPr lvl="1">
              <a:buFont typeface="Wingdings" panose="05000000000000000000" charset="0"/>
              <a:buChar char=""/>
            </a:pPr>
            <a:r>
              <a:rPr lang="en-US" altLang="zh-CN" dirty="0"/>
              <a:t>TcpServer</a:t>
            </a:r>
            <a:r>
              <a:rPr lang="zh-CN" altLang="zh-CN" dirty="0"/>
              <a:t>类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914400" y="1417320"/>
            <a:ext cx="10408285" cy="4848225"/>
          </a:xfrm>
        </p:spPr>
        <p:txBody>
          <a:bodyPr wrap="square" anchor="t"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recv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sockfd,void *buf,int len,int flags);</a:t>
            </a: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send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sockfd,void *buf,int len,int flags);</a:t>
            </a: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前面的三个参数和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read,write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相同，第四个参数能够是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或是以下的组合</a:t>
            </a: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MSG_DONTROUTE--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不查找路由表 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MSG_OOB--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接受或发送带外数据 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x-none" sz="20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MSG_PEEK</a:t>
            </a: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查看数据</a:t>
            </a: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并不从系统缓冲区移走数据</a:t>
            </a: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"/>
            </a:pPr>
            <a:r>
              <a:rPr kumimoji="0" lang="en-US" altLang="x-none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MSG_WAITALL--</a:t>
            </a:r>
            <a:r>
              <a: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等待任何数据</a:t>
            </a:r>
            <a:endParaRPr kumimoji="0" lang="en-US" altLang="x-none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如果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flags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为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，则和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read,write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一样的操作</a:t>
            </a:r>
            <a:endParaRPr kumimoji="0" lang="en-US" altLang="x-none" sz="2400" b="0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p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中，所有的设备都可以看成是一个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文件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，所以可以用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read/write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来读写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socket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数据。</a:t>
            </a:r>
            <a:endParaRPr kumimoji="0" lang="zh-CN" altLang="en-US" sz="2400" b="0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x-none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 wrap="square" anchor="ctr" anchorCtr="0"/>
          <a:p>
            <a:r>
              <a:rPr lang="en-US" altLang="zh-CN" dirty="0"/>
              <a:t>  read/write</a:t>
            </a:r>
            <a:r>
              <a:rPr lang="zh-CN" altLang="en-US" dirty="0"/>
              <a:t>和</a:t>
            </a:r>
            <a:r>
              <a:rPr lang="en-US" altLang="zh-CN" dirty="0"/>
              <a:t>recv/send</a:t>
            </a:r>
            <a:r>
              <a:rPr lang="zh-CN" altLang="en-US" dirty="0"/>
              <a:t>区别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6397625"/>
            <a:ext cx="1143000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7660" y="6384290"/>
            <a:ext cx="3374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关注微信公众号：王道在线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0" y="6379845"/>
            <a:ext cx="36918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王道论坛网址：</a:t>
            </a:r>
            <a:r>
              <a:rPr lang="en-US" altLang="zh-CN" sz="1400">
                <a:solidFill>
                  <a:schemeClr val="bg1"/>
                </a:solidFill>
              </a:rPr>
              <a:t>www.cskaoyan.com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54985" y="1270635"/>
            <a:ext cx="4092575" cy="1606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054985" y="3632835"/>
            <a:ext cx="4092575" cy="1606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fsajlfjlskfkasjfjsdlkfjklsjflksdjklffjakljflksdjk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fjsalkfjskdfjlksafkasjlkfjsdkfjksajflka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kasjlkfjsdkfjksajflkasfjlasfjlksflkasjlfkslk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fjlsakfjlasfjlk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\n\0</a:t>
            </a:r>
            <a:r>
              <a:rPr lang="en-US" altLang="zh-CN">
                <a:sym typeface="+mn-ea"/>
              </a:rPr>
              <a:t>fsajklfj</a:t>
            </a:r>
            <a:endParaRPr lang="en-US" altLang="zh-CN"/>
          </a:p>
          <a:p>
            <a:pPr algn="ctr"/>
            <a:endParaRPr lang="en-US" altLang="zh-CN"/>
          </a:p>
        </p:txBody>
      </p:sp>
      <p:cxnSp>
        <p:nvCxnSpPr>
          <p:cNvPr id="8" name="直接连接符 7"/>
          <p:cNvCxnSpPr/>
          <p:nvPr/>
        </p:nvCxnSpPr>
        <p:spPr>
          <a:xfrm>
            <a:off x="327660" y="3246755"/>
            <a:ext cx="11824335" cy="16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44880" y="167830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用户态</a:t>
            </a:r>
            <a:r>
              <a:rPr lang="zh-CN" altLang="en-US"/>
              <a:t>缓冲区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86790" y="379285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内核态</a:t>
            </a:r>
            <a:r>
              <a:rPr lang="zh-CN" altLang="en-US"/>
              <a:t>缓冲区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658100" y="226695"/>
            <a:ext cx="25019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recv(peerfd,buff,128, 0);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7703185" y="625475"/>
            <a:ext cx="3154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除了拷贝数据，同时还从</a:t>
            </a:r>
            <a:r>
              <a:rPr lang="zh-CN" altLang="en-US"/>
              <a:t>内核</a:t>
            </a:r>
            <a:endParaRPr lang="zh-CN" altLang="en-US"/>
          </a:p>
          <a:p>
            <a:r>
              <a:rPr lang="zh-CN" altLang="en-US"/>
              <a:t>缓冲区移走了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82348" y="5434330"/>
            <a:ext cx="56521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>
                <a:sym typeface="+mn-ea"/>
              </a:rPr>
              <a:t>fsajlfjlskfkasjfjsdlkfjklsjflksdjklffjakljflksdjk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fjsalkfjskdfjlksaf\njflkasjlkfjsdkfjksajflkasfjlasfjlksflkasjlfkslk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298690" y="1786890"/>
            <a:ext cx="47536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读取一行的思路：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先从</a:t>
            </a:r>
            <a:r>
              <a:rPr lang="zh-CN" altLang="en-US"/>
              <a:t>内核取出一部分数据，但不移走。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然后再去判断有没有</a:t>
            </a:r>
            <a:r>
              <a:rPr lang="en-US" altLang="zh-CN"/>
              <a:t> ‘\n’</a:t>
            </a:r>
            <a:r>
              <a:rPr lang="zh-CN" altLang="en-US"/>
              <a:t>，如果</a:t>
            </a:r>
            <a:r>
              <a:rPr lang="zh-CN" altLang="en-US"/>
              <a:t>有，那获取这一行的</a:t>
            </a:r>
            <a:r>
              <a:rPr lang="zh-CN" altLang="en-US"/>
              <a:t>长度。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最后再从内核缓冲区中移走就可以</a:t>
            </a:r>
            <a:r>
              <a:rPr lang="zh-CN" altLang="en-US"/>
              <a:t>了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369175" y="1400175"/>
            <a:ext cx="34283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recv(peerfd,buff,128, MSG_PEEK);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256540" y="4690745"/>
            <a:ext cx="2707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recv</a:t>
            </a:r>
            <a:r>
              <a:rPr lang="zh-CN" altLang="en-US" b="1">
                <a:solidFill>
                  <a:srgbClr val="FF0000"/>
                </a:solidFill>
              </a:rPr>
              <a:t>与</a:t>
            </a:r>
            <a:r>
              <a:rPr lang="en-US" altLang="zh-CN" b="1">
                <a:solidFill>
                  <a:srgbClr val="FF0000"/>
                </a:solidFill>
              </a:rPr>
              <a:t>send</a:t>
            </a:r>
            <a:r>
              <a:rPr lang="zh-CN" altLang="en-US" b="1">
                <a:solidFill>
                  <a:srgbClr val="FF0000"/>
                </a:solidFill>
              </a:rPr>
              <a:t>并没有真正的去执行数据的接收与发送，而是靠内核协议栈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1649730" y="1571625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fsajlfjlskfkasjfjsdlkfjklsjflksdjklffjakljflksdjkklsjflksdjklffjakljflksdjkksdjklffjakljflksd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jkklsjflksdjklffjakljflkshfhqohdofuowfhowfhowhfowfhowfhowhfowhfowhfowhfowhfowf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howfofwoljflkshfhqohdofuowfhowfhowhfowfhowfho</a:t>
                      </a:r>
                      <a:r>
                        <a:rPr lang="en-US" altLang="zh-CN" sz="1800" b="1">
                          <a:solidFill>
                            <a:srgbClr val="FF0000"/>
                          </a:solidFill>
                          <a:sym typeface="+mn-ea"/>
                        </a:rPr>
                        <a:t>\n</a:t>
                      </a:r>
                      <a:r>
                        <a:rPr lang="en-US" altLang="zh-CN" sz="1800">
                          <a:sym typeface="+mn-ea"/>
                        </a:rPr>
                        <a:t>owhfowhfowhfoewioqueq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60400"/>
            <a:ext cx="10515600" cy="1325563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Eventfd ——  Reactor</a:t>
            </a:r>
            <a:r>
              <a:rPr lang="zh-CN" altLang="en-US">
                <a:solidFill>
                  <a:srgbClr val="FF0000"/>
                </a:solidFill>
              </a:rPr>
              <a:t>与线程池融合的</a:t>
            </a:r>
            <a:r>
              <a:rPr lang="zh-CN" altLang="en-US">
                <a:solidFill>
                  <a:srgbClr val="FF0000"/>
                </a:solidFill>
              </a:rPr>
              <a:t>组件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6626" name="Rectangle 3"/>
          <p:cNvSpPr>
            <a:spLocks noGrp="1"/>
          </p:cNvSpPr>
          <p:nvPr/>
        </p:nvSpPr>
        <p:spPr>
          <a:xfrm>
            <a:off x="771525" y="1943100"/>
            <a:ext cx="10173970" cy="3686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>
            <a:lvl1pPr marL="342900" lvl="0" indent="-3429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/>
              <a:t>从Linux 2.6.27版本开始，新增了不少系统调用，其中包括eventfd，它的主要是用于</a:t>
            </a:r>
            <a:r>
              <a:rPr lang="zh-CN" altLang="en-US" dirty="0">
                <a:solidFill>
                  <a:srgbClr val="FF0000"/>
                </a:solidFill>
              </a:rPr>
              <a:t>进程或者线程间通信</a:t>
            </a:r>
            <a:r>
              <a:rPr lang="zh-CN" altLang="en-US" dirty="0"/>
              <a:t>(如通知/等待机制的实现)。</a:t>
            </a:r>
            <a:endParaRPr lang="zh-CN" altLang="en-US" dirty="0"/>
          </a:p>
          <a:p>
            <a:pPr eaLnBrk="1" hangingPunct="1"/>
            <a:r>
              <a:rPr lang="zh-CN" altLang="en-US" dirty="0"/>
              <a:t>函数原型：      </a:t>
            </a:r>
            <a:endParaRPr lang="zh-CN" altLang="en-US" dirty="0"/>
          </a:p>
          <a:p>
            <a:pPr marL="457200" lvl="1" indent="0" eaLnBrk="1" hangingPunct="1">
              <a:buNone/>
            </a:pPr>
            <a:r>
              <a:rPr lang="zh-CN" altLang="en-US" dirty="0"/>
              <a:t>#include &lt;sys/eventfd.h&gt;</a:t>
            </a:r>
            <a:endParaRPr lang="zh-CN" altLang="en-US" dirty="0"/>
          </a:p>
          <a:p>
            <a:pPr marL="457200" lvl="1" indent="0" eaLnBrk="1" hangingPunct="1">
              <a:buNone/>
            </a:pPr>
            <a:r>
              <a:rPr lang="zh-CN" altLang="en-US" dirty="0"/>
              <a:t>int eventfd(unsigned int initval, int flags);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553720"/>
            <a:ext cx="10515600" cy="1302385"/>
          </a:xfrm>
        </p:spPr>
        <p:txBody>
          <a:bodyPr/>
          <a:p>
            <a:r>
              <a:rPr lang="zh-CN" altLang="en-US" dirty="0">
                <a:sym typeface="+mn-ea"/>
              </a:rPr>
              <a:t>int eventfd(unsigned int initval, int flags)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参数说明</a:t>
            </a:r>
            <a:br>
              <a:rPr lang="zh-CN" altLang="en-US" dirty="0"/>
            </a:br>
            <a:endParaRPr lang="zh-CN" altLang="en-US"/>
          </a:p>
        </p:txBody>
      </p:sp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873125" y="2075180"/>
            <a:ext cx="10109835" cy="4428490"/>
          </a:xfrm>
        </p:spPr>
        <p:txBody>
          <a:bodyPr wrap="square" anchor="t" anchorCtr="0"/>
          <a:p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i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nitval</a:t>
            </a:r>
            <a:r>
              <a:rPr lang="zh-CN" altLang="en-US" sz="2000" dirty="0">
                <a:sym typeface="+mn-ea"/>
              </a:rPr>
              <a:t>：初始化计数器值，该值保存在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内核</a:t>
            </a:r>
            <a:r>
              <a:rPr lang="zh-CN" altLang="en-US" sz="2000" dirty="0">
                <a:sym typeface="+mn-ea"/>
              </a:rPr>
              <a:t>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FF0000"/>
                </a:solidFill>
              </a:rPr>
              <a:t>flags</a:t>
            </a:r>
            <a:r>
              <a:rPr lang="en-US" altLang="zh-CN" sz="2000" dirty="0"/>
              <a:t>:</a:t>
            </a:r>
            <a:r>
              <a:rPr lang="zh-CN" altLang="en-US" sz="2000" dirty="0"/>
              <a:t>如果是2.6.26或之前版本的内核，</a:t>
            </a:r>
            <a:r>
              <a:rPr lang="zh-CN" altLang="en-US" sz="2000" dirty="0">
                <a:solidFill>
                  <a:srgbClr val="FF0000"/>
                </a:solidFill>
              </a:rPr>
              <a:t>flags</a:t>
            </a:r>
            <a:r>
              <a:rPr lang="zh-CN" altLang="en-US" sz="2000" dirty="0"/>
              <a:t> 必须设置为0。</a:t>
            </a:r>
            <a:endParaRPr lang="zh-CN" altLang="en-US" sz="2000" dirty="0"/>
          </a:p>
          <a:p>
            <a:r>
              <a:rPr lang="en-US" altLang="zh-CN" sz="2000" b="1" dirty="0">
                <a:solidFill>
                  <a:schemeClr val="tx1"/>
                </a:solidFill>
              </a:rPr>
              <a:t>f</a:t>
            </a:r>
            <a:r>
              <a:rPr lang="zh-CN" altLang="en-US" sz="2000" b="1" dirty="0">
                <a:solidFill>
                  <a:schemeClr val="tx1"/>
                </a:solidFill>
              </a:rPr>
              <a:t>lags</a:t>
            </a:r>
            <a:r>
              <a:rPr lang="zh-CN" altLang="en-US" sz="2000" dirty="0"/>
              <a:t>支持以下标志位：</a:t>
            </a:r>
            <a:endParaRPr lang="zh-CN" altLang="en-US" sz="2000" dirty="0"/>
          </a:p>
          <a:p>
            <a:pPr lvl="1"/>
            <a:r>
              <a:rPr lang="zh-CN" altLang="en-US" sz="2000" dirty="0"/>
              <a:t>EFD_NONBLOCK      类似于使用O_NONBLOCK标志设置文件描述符。</a:t>
            </a:r>
            <a:endParaRPr lang="zh-CN" altLang="en-US" sz="2000" dirty="0"/>
          </a:p>
          <a:p>
            <a:pPr lvl="1"/>
            <a:r>
              <a:rPr lang="zh-CN" altLang="en-US" sz="2000" dirty="0"/>
              <a:t>EFD_CLOEXEC  类似open以O_CLOEXEC标志打开， O_CLOEXEC 应该表示执行exec()时，之前通过open()打开的文件描述符会自动关闭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返回值</a:t>
            </a:r>
            <a:r>
              <a:rPr lang="zh-CN" altLang="en-US" sz="2000" dirty="0"/>
              <a:t>：函数返回一个文件描述符，与打开的其他文件一样，可以进行读写操作。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565150"/>
            <a:ext cx="10515600" cy="698500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Eventfd</a:t>
            </a:r>
            <a:r>
              <a:rPr lang="zh-CN" altLang="en-US">
                <a:solidFill>
                  <a:srgbClr val="FF0000"/>
                </a:solidFill>
              </a:rPr>
              <a:t>支持的操作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xfrm>
            <a:off x="838200" y="1578610"/>
            <a:ext cx="10090785" cy="3064510"/>
          </a:xfrm>
        </p:spPr>
        <p:txBody>
          <a:bodyPr wrap="square" anchor="t" anchorCtr="0"/>
          <a:p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zh-CN" altLang="en-US" sz="2400" dirty="0">
                <a:solidFill>
                  <a:srgbClr val="FF0000"/>
                </a:solidFill>
              </a:rPr>
              <a:t>ead</a:t>
            </a:r>
            <a:r>
              <a:rPr lang="zh-CN" altLang="en-US" sz="2400" dirty="0"/>
              <a:t>：如果计数器A的值不为0时，读取成功，获得到该值。如果A的值为0，非阻塞模式时，会直接返回失败，并把error置为EINVAL</a:t>
            </a:r>
            <a:r>
              <a:rPr lang="en-US" altLang="zh-CN" sz="2400" dirty="0"/>
              <a:t>;</a:t>
            </a:r>
            <a:r>
              <a:rPr lang="zh-CN" altLang="en-US" sz="2400" dirty="0"/>
              <a:t>如果为阻塞模式，一直会阻塞到A为非0为止。</a:t>
            </a:r>
            <a:endParaRPr lang="zh-CN" altLang="en-US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w</a:t>
            </a:r>
            <a:r>
              <a:rPr lang="zh-CN" altLang="en-US" sz="2400" dirty="0">
                <a:solidFill>
                  <a:srgbClr val="FF0000"/>
                </a:solidFill>
              </a:rPr>
              <a:t>rite</a:t>
            </a:r>
            <a:r>
              <a:rPr lang="zh-CN" altLang="en-US" sz="2400" dirty="0"/>
              <a:t>：将缓冲区写入的8字节整形值加到</a:t>
            </a:r>
            <a:r>
              <a:rPr lang="zh-CN" altLang="en-US" sz="2400" dirty="0">
                <a:solidFill>
                  <a:srgbClr val="FF0000"/>
                </a:solidFill>
              </a:rPr>
              <a:t>内核计数器</a:t>
            </a:r>
            <a:r>
              <a:rPr lang="zh-CN" altLang="en-US" sz="2400" dirty="0"/>
              <a:t>上，即会增加8字节的整数在计数器A上，如果其值达到0xfffffffffffffffe时，就会阻塞（在阻塞模式下），直到A的值被read。</a:t>
            </a:r>
            <a:endParaRPr lang="zh-CN" altLang="en-US" sz="2400" dirty="0"/>
          </a:p>
          <a:p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select/poll/epoll</a:t>
            </a:r>
            <a:r>
              <a:rPr lang="zh-CN" altLang="en-US" sz="2400" dirty="0">
                <a:sym typeface="+mn-ea"/>
              </a:rPr>
              <a:t>：支持被</a:t>
            </a:r>
            <a:r>
              <a:rPr lang="en-US" altLang="zh-CN" sz="2400" dirty="0">
                <a:sym typeface="+mn-ea"/>
              </a:rPr>
              <a:t>io</a:t>
            </a:r>
            <a:r>
              <a:rPr lang="zh-CN" altLang="en-US" sz="2400" dirty="0">
                <a:sym typeface="+mn-ea"/>
              </a:rPr>
              <a:t>多路复用监听。当内核计数器的值发生变化时，就会触发</a:t>
            </a:r>
            <a:r>
              <a:rPr lang="zh-CN" altLang="en-US" sz="2400" dirty="0">
                <a:sym typeface="+mn-ea"/>
              </a:rPr>
              <a:t>事件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188210" y="1731645"/>
            <a:ext cx="1572895" cy="4180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950585" y="1681480"/>
            <a:ext cx="1572895" cy="41802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51220" y="2348865"/>
            <a:ext cx="15913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内核计数器</a:t>
            </a:r>
            <a:endParaRPr lang="zh-CN" altLang="en-US" sz="2000" b="1"/>
          </a:p>
          <a:p>
            <a:r>
              <a:rPr lang="en-US" altLang="zh-CN" sz="2000" b="1"/>
              <a:t>initval</a:t>
            </a:r>
            <a:endParaRPr lang="en-US" altLang="zh-CN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2159000" y="2517775"/>
            <a:ext cx="16421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文件描述符</a:t>
            </a:r>
            <a:r>
              <a:rPr lang="en-US" altLang="zh-CN" sz="2000" b="1"/>
              <a:t>evtfd</a:t>
            </a:r>
            <a:endParaRPr lang="en-US" altLang="zh-CN" sz="2000" b="1"/>
          </a:p>
        </p:txBody>
      </p:sp>
      <p:cxnSp>
        <p:nvCxnSpPr>
          <p:cNvPr id="8" name="直接箭头连接符 7"/>
          <p:cNvCxnSpPr>
            <a:endCxn id="6" idx="1"/>
          </p:cNvCxnSpPr>
          <p:nvPr/>
        </p:nvCxnSpPr>
        <p:spPr>
          <a:xfrm>
            <a:off x="3761105" y="2702560"/>
            <a:ext cx="21901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845685" y="1015365"/>
            <a:ext cx="5930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C00000"/>
                </a:solidFill>
              </a:rPr>
              <a:t>int evtfd = eventfd(initval,falg)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62265" y="2328545"/>
            <a:ext cx="36023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A</a:t>
            </a:r>
            <a:r>
              <a:rPr lang="zh-CN" altLang="en-US" sz="3200" b="1"/>
              <a:t>线程负责</a:t>
            </a:r>
            <a:r>
              <a:rPr lang="en-US" altLang="zh-CN" sz="3200" b="1"/>
              <a:t>write</a:t>
            </a:r>
            <a:endParaRPr lang="en-US" altLang="zh-CN" sz="3200" b="1"/>
          </a:p>
        </p:txBody>
      </p:sp>
      <p:sp>
        <p:nvSpPr>
          <p:cNvPr id="11" name="文本框 10"/>
          <p:cNvSpPr txBox="1"/>
          <p:nvPr/>
        </p:nvSpPr>
        <p:spPr>
          <a:xfrm>
            <a:off x="7962265" y="3641725"/>
            <a:ext cx="3265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B</a:t>
            </a:r>
            <a:r>
              <a:rPr lang="zh-CN" altLang="en-US" sz="3200" b="1"/>
              <a:t>线程负责</a:t>
            </a:r>
            <a:r>
              <a:rPr lang="en-US" altLang="zh-CN" sz="3200" b="1"/>
              <a:t>read</a:t>
            </a:r>
            <a:endParaRPr lang="en-US" altLang="zh-CN" sz="3200"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03250"/>
            <a:ext cx="10515600" cy="728345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Timerfd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771525" y="1595755"/>
            <a:ext cx="10589895" cy="4629785"/>
          </a:xfrm>
          <a:ln>
            <a:miter/>
          </a:ln>
        </p:spPr>
        <p:txBody>
          <a:bodyPr wrap="square" anchor="t"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timerfd是Linux提供的一个定时器接口。这个接口基于文件描述符，通过文件描述符的可读事件进行超时通知，所以能够被用于select/poll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/epoll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的应用场景。timerfd是linux内核2.6.25版本中加入的接口。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&lt;sys/timerfd.h&gt;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timerfd_create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clockid, int flags);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timerfd_settime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fd, int flags,const struct itimerspec *new_value,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struct itimerspec *old_value);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31825"/>
            <a:ext cx="10515600" cy="819150"/>
          </a:xfrm>
        </p:spPr>
        <p:txBody>
          <a:bodyPr/>
          <a:p>
            <a:r>
              <a:rPr lang="en-US" altLang="zh-CN" sz="3600" dirty="0">
                <a:latin typeface="+mn-lt"/>
                <a:ea typeface="+mn-ea"/>
                <a:cs typeface="+mn-cs"/>
                <a:sym typeface="+mn-ea"/>
              </a:rPr>
              <a:t> int </a:t>
            </a:r>
            <a:r>
              <a:rPr lang="en-US" altLang="zh-CN" sz="3600" dirty="0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timerfd_create</a:t>
            </a:r>
            <a:r>
              <a:rPr lang="en-US" altLang="zh-CN" sz="3600" dirty="0">
                <a:latin typeface="+mn-lt"/>
                <a:ea typeface="+mn-ea"/>
                <a:cs typeface="+mn-cs"/>
                <a:sym typeface="+mn-ea"/>
              </a:rPr>
              <a:t>(int clockid, int flags);</a:t>
            </a:r>
            <a:b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zh-CN" altLang="en-US"/>
          </a:p>
        </p:txBody>
      </p:sp>
      <p:sp>
        <p:nvSpPr>
          <p:cNvPr id="20483" name="内容占位符 2"/>
          <p:cNvSpPr>
            <a:spLocks noGrp="1"/>
          </p:cNvSpPr>
          <p:nvPr/>
        </p:nvSpPr>
        <p:spPr>
          <a:xfrm>
            <a:off x="838200" y="1484630"/>
            <a:ext cx="10515600" cy="46367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 marL="342900" indent="-342900" eaLnBrk="0" hangingPunct="0"/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功能：该函数生成一个定时器对象，返回与之关联的文件描述符。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参数详解：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clockid: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可设置为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CLOCK_REALTIME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相对时间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，从1970.1.1到目前的时间。更改系统时间 会更改获取的值，它以系统时间为坐标。</a:t>
            </a:r>
            <a:endParaRPr lang="zh-CN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CLOCK_MONOTONIC：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绝对时间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，获取的时间为系统重启到现在的时间，更改系统时间对齐没有影响。</a:t>
            </a:r>
            <a:endParaRPr lang="zh-CN" altLang="zh-CN" sz="2000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flags: 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可设置为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TFD_NONBLOCK（非阻塞），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TFD_CLOEXEC（同O_CLOEXEC）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1143000" lvl="2" indent="-228600" eaLnBrk="0" hangingPunct="0"/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linux内核2.6.2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6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版本以上都指定为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0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633730"/>
            <a:ext cx="10515600" cy="1028065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timerfd_settime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2530" name="内容占位符 2"/>
          <p:cNvSpPr>
            <a:spLocks noGrp="1"/>
          </p:cNvSpPr>
          <p:nvPr/>
        </p:nvSpPr>
        <p:spPr>
          <a:xfrm>
            <a:off x="477520" y="1892618"/>
            <a:ext cx="7108825" cy="46370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 marL="342900" indent="-342900" eaLnBrk="0" hangingPunct="0"/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功能：该函数能够启动和停止定时器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参数详解：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fd: timerfd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对应的文件描述符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flags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0表示是相对定时器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TFD_TIMER_ABSTIME表示是绝对定时器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new_value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:设置超时时间，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如果为0则表示停止定时器。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buFont typeface="Arial" panose="020B0604020202020204" pitchFamily="34" charset="0"/>
              <a:buChar char="–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old_value: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一般设为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NULL, 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不为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NULL,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1143000" lvl="2" indent="-228600" eaLnBrk="0" hangingPunct="0"/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则返回定时器这次设置之前的超时时间</a:t>
            </a:r>
            <a:endParaRPr lang="zh-CN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29960" y="1952625"/>
            <a:ext cx="6082030" cy="1364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ym typeface="+mn-ea"/>
              </a:rPr>
              <a:t>    int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timerfd_settime</a:t>
            </a:r>
            <a:r>
              <a:rPr lang="en-US" altLang="zh-CN" dirty="0">
                <a:sym typeface="+mn-ea"/>
              </a:rPr>
              <a:t>(int fd, </a:t>
            </a: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ym typeface="+mn-ea"/>
              </a:rPr>
              <a:t>	         int flags,</a:t>
            </a:r>
            <a:endParaRPr kumimoji="0" lang="en-US" altLang="zh-CN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ym typeface="+mn-ea"/>
              </a:rPr>
              <a:t>                        const struct itimerspec *new_value,</a:t>
            </a:r>
            <a:endParaRPr kumimoji="0" lang="en-US" altLang="zh-CN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ym typeface="+mn-ea"/>
              </a:rPr>
              <a:t>                        struct itimerspec *old_value);</a:t>
            </a:r>
            <a:endParaRPr lang="zh-CN" altLang="en-US"/>
          </a:p>
        </p:txBody>
      </p:sp>
      <p:pic>
        <p:nvPicPr>
          <p:cNvPr id="2253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150" y="4584065"/>
            <a:ext cx="6127750" cy="1631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8200" y="763270"/>
            <a:ext cx="10515600" cy="897890"/>
          </a:xfrm>
        </p:spPr>
        <p:txBody>
          <a:bodyPr/>
          <a:p>
            <a:r>
              <a:rPr lang="en-US" altLang="zh-CN"/>
              <a:t>timerfd</a:t>
            </a:r>
            <a:r>
              <a:rPr lang="zh-CN" altLang="en-US"/>
              <a:t>支持的</a:t>
            </a:r>
            <a:r>
              <a:rPr lang="zh-CN" altLang="en-US"/>
              <a:t>操作</a:t>
            </a:r>
            <a:endParaRPr lang="zh-CN" altLang="en-US"/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849630" y="2006600"/>
            <a:ext cx="10899775" cy="3641725"/>
          </a:xfrm>
          <a:ln>
            <a:miter/>
          </a:ln>
        </p:spPr>
        <p:txBody>
          <a:bodyPr wrap="square" anchor="t"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ead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读</a:t>
            </a:r>
            <a:r>
              <a:rPr kumimoji="0" 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取缓冲区中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kumimoji="0" 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数据，其占据的存储空间</a:t>
            </a:r>
            <a:endParaRPr kumimoji="0" 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　　　　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sizeof(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uint64</a:t>
            </a:r>
            <a:r>
              <a:rPr kumimoji="0" 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_t</a:t>
            </a:r>
            <a:r>
              <a:rPr kumimoji="0" 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，表示超时次数。</a:t>
            </a: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select/poll/epoll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：当定时器超时时，会触发定时器相对应的文件描述符上的读操作，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复用操作会返回，然后再去对该读事件进行处理。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63245"/>
            <a:ext cx="10515600" cy="1325563"/>
          </a:xfrm>
        </p:spPr>
        <p:txBody>
          <a:bodyPr/>
          <a:p>
            <a:r>
              <a:rPr lang="en-US" altLang="zh-CN"/>
              <a:t>UTF8</a:t>
            </a:r>
            <a:r>
              <a:rPr lang="zh-CN" altLang="en-US"/>
              <a:t>编码规则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6935" y="1889125"/>
            <a:ext cx="10468610" cy="36220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70865"/>
            <a:ext cx="10515600" cy="1325563"/>
          </a:xfrm>
        </p:spPr>
        <p:txBody>
          <a:bodyPr/>
          <a:p>
            <a:r>
              <a:rPr lang="zh-CN" altLang="en-US"/>
              <a:t>中文处理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799590" y="296608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  <a:gridCol w="9480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s1[0]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s1[3]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s1[6]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1830070" y="233807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人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10941685" y="3499485"/>
            <a:ext cx="0" cy="615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70865"/>
            <a:ext cx="10515600" cy="1325563"/>
          </a:xfrm>
        </p:spPr>
        <p:txBody>
          <a:bodyPr/>
          <a:p>
            <a:r>
              <a:rPr lang="zh-CN" altLang="en-US"/>
              <a:t>中文处理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147695" y="2990850"/>
          <a:ext cx="518414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30"/>
                <a:gridCol w="745490"/>
                <a:gridCol w="718820"/>
                <a:gridCol w="855980"/>
                <a:gridCol w="695960"/>
                <a:gridCol w="780415"/>
                <a:gridCol w="6140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s2[0]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3178175" y="2362835"/>
          <a:ext cx="51485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830"/>
                <a:gridCol w="856615"/>
                <a:gridCol w="209613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国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8808720" y="3540760"/>
            <a:ext cx="0" cy="615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387725" y="2479675"/>
            <a:ext cx="5416550" cy="0"/>
          </a:xfrm>
          <a:prstGeom prst="line">
            <a:avLst/>
          </a:prstGeom>
          <a:ln w="19050">
            <a:solidFill>
              <a:srgbClr val="3C3F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3508375" y="1751965"/>
            <a:ext cx="502920" cy="5029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flipH="1">
            <a:off x="4207510" y="1777365"/>
            <a:ext cx="1016635" cy="464185"/>
          </a:xfrm>
          <a:prstGeom prst="rtTriangle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684520" y="1777365"/>
            <a:ext cx="2068195" cy="464185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3C3F8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67370" y="1777365"/>
            <a:ext cx="464185" cy="464185"/>
          </a:xfrm>
          <a:prstGeom prst="rect">
            <a:avLst/>
          </a:prstGeom>
          <a:solidFill>
            <a:srgbClr val="315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07895" y="2954020"/>
            <a:ext cx="77762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8000" b="1">
                <a:solidFill>
                  <a:srgbClr val="31518C"/>
                </a:solidFill>
                <a:latin typeface="Lantinghei SC Heavy" panose="02000000000000000000" charset="-122"/>
                <a:ea typeface="Lantinghei SC Heavy" panose="02000000000000000000" charset="-122"/>
              </a:rPr>
              <a:t>THANK YOU</a:t>
            </a:r>
            <a:endParaRPr lang="en-US" altLang="zh-CN" sz="8000" b="1">
              <a:solidFill>
                <a:srgbClr val="31518C"/>
              </a:solidFill>
              <a:latin typeface="Lantinghei SC Heavy" panose="02000000000000000000" charset="-122"/>
              <a:ea typeface="Lantinghei SC Heavy" panose="020000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640,&quot;width&quot;:9000}"/>
</p:tagLst>
</file>

<file path=ppt/tags/tag2.xml><?xml version="1.0" encoding="utf-8"?>
<p:tagLst xmlns:p="http://schemas.openxmlformats.org/presentationml/2006/main">
  <p:tag name="KSO_WM_UNIT_TABLE_BEAUTIFY" val="{a0cd6be2-8de1-4ba5-877d-0624aa051092}"/>
</p:tagLst>
</file>

<file path=ppt/tags/tag3.xml><?xml version="1.0" encoding="utf-8"?>
<p:tagLst xmlns:p="http://schemas.openxmlformats.org/presentationml/2006/main">
  <p:tag name="KSO_WM_UNIT_TABLE_BEAUTIFY" val="smartTable{f0f2a995-551b-4ba9-a755-e47133839d96}"/>
</p:tagLst>
</file>

<file path=ppt/tags/tag4.xml><?xml version="1.0" encoding="utf-8"?>
<p:tagLst xmlns:p="http://schemas.openxmlformats.org/presentationml/2006/main">
  <p:tag name="TABLE_ENDDRAG_ORIGIN_RECT" val="408*30"/>
  <p:tag name="TABLE_ENDDRAG_RECT" val="141*233*408*30"/>
</p:tagLst>
</file>

<file path=ppt/tags/tag5.xml><?xml version="1.0" encoding="utf-8"?>
<p:tagLst xmlns:p="http://schemas.openxmlformats.org/presentationml/2006/main">
  <p:tag name="COMMONDATA" val="eyJoZGlkIjoiMGRlMjEyNWVmZjNjZDU2ZTQ2N2U1NGY0MWQ2ODFhZTYifQ=="/>
  <p:tag name="KSO_WPP_MARK_KEY" val="bc4eeeff-4e8e-4185-aa0d-62e50174752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9885</Words>
  <Application>WPS 演示</Application>
  <PresentationFormat>宽屏</PresentationFormat>
  <Paragraphs>710</Paragraphs>
  <Slides>72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Arial</vt:lpstr>
      <vt:lpstr>宋体</vt:lpstr>
      <vt:lpstr>Wingdings</vt:lpstr>
      <vt:lpstr>微软雅黑</vt:lpstr>
      <vt:lpstr>Lantinghei SC Heavy</vt:lpstr>
      <vt:lpstr>Hiragino Sans GB W3</vt:lpstr>
      <vt:lpstr>Lantinghei SC Demibold</vt:lpstr>
      <vt:lpstr>Wingdings</vt:lpstr>
      <vt:lpstr>等线</vt:lpstr>
      <vt:lpstr>Arial Unicode MS</vt:lpstr>
      <vt:lpstr>等线 Light</vt:lpstr>
      <vt:lpstr>Calibri</vt:lpstr>
      <vt:lpstr>Courier New</vt:lpstr>
      <vt:lpstr>楷体_GB2312</vt:lpstr>
      <vt:lpstr>新宋体</vt:lpstr>
      <vt:lpstr>Office 主题​​</vt:lpstr>
      <vt:lpstr>Package</vt:lpstr>
      <vt:lpstr>PowerPoint 演示文稿</vt:lpstr>
      <vt:lpstr>PowerPoint 演示文稿</vt:lpstr>
      <vt:lpstr>PowerPoint 演示文稿</vt:lpstr>
      <vt:lpstr>七层协议  vs  四(五)层协议</vt:lpstr>
      <vt:lpstr>每一层上的数据包分别叫什么呢？</vt:lpstr>
      <vt:lpstr>数据的封装示意图</vt:lpstr>
      <vt:lpstr>PowerPoint 演示文稿</vt:lpstr>
      <vt:lpstr>TCP协议的特点</vt:lpstr>
      <vt:lpstr>PowerPoint 演示文稿</vt:lpstr>
      <vt:lpstr>PowerPoint 演示文稿</vt:lpstr>
      <vt:lpstr>状 态 迁 移 图</vt:lpstr>
      <vt:lpstr>状态解析01</vt:lpstr>
      <vt:lpstr>状态解析02 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通过Wireshark抓包分析 </vt:lpstr>
      <vt:lpstr>PowerPoint 演示文稿</vt:lpstr>
      <vt:lpstr>IO多路复用模型</vt:lpstr>
      <vt:lpstr>PowerPoint 演示文稿</vt:lpstr>
      <vt:lpstr>poll</vt:lpstr>
      <vt:lpstr>poll</vt:lpstr>
      <vt:lpstr>epoll</vt:lpstr>
      <vt:lpstr>epoll</vt:lpstr>
      <vt:lpstr>select/poll/epoll对比</vt:lpstr>
      <vt:lpstr>PowerPoint 演示文稿</vt:lpstr>
      <vt:lpstr>PowerPoint 演示文稿</vt:lpstr>
      <vt:lpstr>网络IO模型</vt:lpstr>
      <vt:lpstr>PowerPoint 演示文稿</vt:lpstr>
      <vt:lpstr>举例说明</vt:lpstr>
      <vt:lpstr>阻塞式I/O模型 </vt:lpstr>
      <vt:lpstr>非阻塞式I/O </vt:lpstr>
      <vt:lpstr>I/O多路复用 </vt:lpstr>
      <vt:lpstr>信号驱动式I/O </vt:lpstr>
      <vt:lpstr>异步I/O </vt:lpstr>
      <vt:lpstr>比较结果 </vt:lpstr>
      <vt:lpstr>总结 </vt:lpstr>
      <vt:lpstr>举个例子 </vt:lpstr>
      <vt:lpstr>PowerPoint 演示文稿</vt:lpstr>
      <vt:lpstr>常见并发服务器方案</vt:lpstr>
      <vt:lpstr>PowerPoint 演示文稿</vt:lpstr>
      <vt:lpstr>Reactor</vt:lpstr>
      <vt:lpstr>Proactor</vt:lpstr>
      <vt:lpstr>Reactor vs Proactor</vt:lpstr>
      <vt:lpstr>iterative服务器 </vt:lpstr>
      <vt:lpstr>concurrent服务器 </vt:lpstr>
      <vt:lpstr>prefork服务器 </vt:lpstr>
      <vt:lpstr>Basic Reactor </vt:lpstr>
      <vt:lpstr>Reactor + Threadpool </vt:lpstr>
      <vt:lpstr>Multiple reactors + Threadpool </vt:lpstr>
      <vt:lpstr>Multiple Reactors </vt:lpstr>
      <vt:lpstr>总结</vt:lpstr>
      <vt:lpstr>PowerPoint 演示文稿</vt:lpstr>
      <vt:lpstr>Reactor实现</vt:lpstr>
      <vt:lpstr>  read/write和recv/send区别</vt:lpstr>
      <vt:lpstr>PowerPoint 演示文稿</vt:lpstr>
      <vt:lpstr>PowerPoint 演示文稿</vt:lpstr>
      <vt:lpstr>Eventfd ——  Reactor与线程池融合的组件</vt:lpstr>
      <vt:lpstr>int eventfd(unsigned int initval, int flags) 参数说明 </vt:lpstr>
      <vt:lpstr>Eventfd支持的操作</vt:lpstr>
      <vt:lpstr>PowerPoint 演示文稿</vt:lpstr>
      <vt:lpstr>Timerfd</vt:lpstr>
      <vt:lpstr> int timerfd_create(int clockid, int flags); </vt:lpstr>
      <vt:lpstr>timerfd_settime</vt:lpstr>
      <vt:lpstr>timerfd支持的操作</vt:lpstr>
      <vt:lpstr>UTF8编码规则</vt:lpstr>
      <vt:lpstr>中文处理</vt:lpstr>
      <vt:lpstr>中文处理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哩哩</cp:lastModifiedBy>
  <cp:revision>217</cp:revision>
  <dcterms:created xsi:type="dcterms:W3CDTF">2020-07-30T09:47:00Z</dcterms:created>
  <dcterms:modified xsi:type="dcterms:W3CDTF">2024-04-08T01:29:44Z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ADE083F138154C63A5FACF7DCE500744</vt:lpwstr>
  </property>
</Properties>
</file>